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7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6" r:id="rId10"/>
    <p:sldId id="269" r:id="rId11"/>
    <p:sldId id="272" r:id="rId12"/>
    <p:sldId id="273" r:id="rId13"/>
    <p:sldId id="278" r:id="rId14"/>
    <p:sldId id="277" r:id="rId15"/>
    <p:sldId id="286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88" r:id="rId24"/>
    <p:sldId id="289" r:id="rId25"/>
    <p:sldId id="290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1" r:id="rId34"/>
    <p:sldId id="313" r:id="rId35"/>
    <p:sldId id="314" r:id="rId36"/>
    <p:sldId id="315" r:id="rId37"/>
    <p:sldId id="316" r:id="rId38"/>
    <p:sldId id="318" r:id="rId39"/>
    <p:sldId id="279" r:id="rId40"/>
    <p:sldId id="317" r:id="rId41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AE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745" autoAdjust="0"/>
  </p:normalViewPr>
  <p:slideViewPr>
    <p:cSldViewPr>
      <p:cViewPr varScale="1">
        <p:scale>
          <a:sx n="79" d="100"/>
          <a:sy n="79" d="100"/>
        </p:scale>
        <p:origin x="49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Pasta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pt-BR" sz="2000" dirty="0">
                <a:solidFill>
                  <a:schemeClr val="tx1"/>
                </a:solidFill>
                <a:latin typeface="+mj-lt"/>
              </a:rPr>
              <a:t>Faturamento por Tipo de Serviço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06-4024-8A98-742CBD380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06-4024-8A98-742CBD38095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06-4024-8A98-742CBD3809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Planilha1!$F$8:$F$10</c:f>
              <c:strCache>
                <c:ptCount val="3"/>
                <c:pt idx="0">
                  <c:v>Cílios</c:v>
                </c:pt>
                <c:pt idx="1">
                  <c:v>Sobrancelhas</c:v>
                </c:pt>
                <c:pt idx="2">
                  <c:v>Unhas</c:v>
                </c:pt>
              </c:strCache>
            </c:strRef>
          </c:cat>
          <c:val>
            <c:numRef>
              <c:f>Planilha1!$I$8:$I$10</c:f>
              <c:numCache>
                <c:formatCode>0.00%</c:formatCode>
                <c:ptCount val="3"/>
                <c:pt idx="0">
                  <c:v>0.82379293180686908</c:v>
                </c:pt>
                <c:pt idx="1">
                  <c:v>4.1811846689895474E-2</c:v>
                </c:pt>
                <c:pt idx="2">
                  <c:v>0.13439522150323543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06-4024-8A98-742CBD3809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j-lt"/>
        </a:defRPr>
      </a:pPr>
      <a:endParaRPr lang="pt-B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Planilha1!$C$2:$J$2</cx:f>
        <cx:lvl ptCount="8">
          <cx:pt idx="0">Vol. 3D</cx:pt>
          <cx:pt idx="1">Vol. Híbrido</cx:pt>
          <cx:pt idx="2">Vol. Russo</cx:pt>
          <cx:pt idx="3">Mega Vol.</cx:pt>
          <cx:pt idx="4">Com henna</cx:pt>
          <cx:pt idx="5">Sem henna</cx:pt>
          <cx:pt idx="6">Alongamento</cx:pt>
          <cx:pt idx="7">Esmaltação</cx:pt>
        </cx:lvl>
      </cx:strDim>
      <cx:numDim type="val">
        <cx:f dir="row">Planilha1!$C$3:$J$3</cx:f>
        <cx:lvl ptCount="8" formatCode="_-&quot;R$&quot;\ * #.##0,00_-;\-&quot;R$&quot;\ * #.##0,00_-;_-&quot;R$&quot;\ * &quot;-&quot;??_-;_-@_-">
          <cx:pt idx="0">2640</cx:pt>
          <cx:pt idx="1">2700</cx:pt>
          <cx:pt idx="2">1495</cx:pt>
          <cx:pt idx="3">1440</cx:pt>
          <cx:pt idx="4">195</cx:pt>
          <cx:pt idx="5">225</cx:pt>
          <cx:pt idx="6">700</cx:pt>
          <cx:pt idx="7">650</cx:pt>
        </cx:lvl>
      </cx:numDim>
    </cx:data>
    <cx:data id="1">
      <cx:strDim type="cat">
        <cx:f dir="row">Planilha1!$C$2:$J$2</cx:f>
        <cx:lvl ptCount="8">
          <cx:pt idx="0">Vol. 3D</cx:pt>
          <cx:pt idx="1">Vol. Híbrido</cx:pt>
          <cx:pt idx="2">Vol. Russo</cx:pt>
          <cx:pt idx="3">Mega Vol.</cx:pt>
          <cx:pt idx="4">Com henna</cx:pt>
          <cx:pt idx="5">Sem henna</cx:pt>
          <cx:pt idx="6">Alongamento</cx:pt>
          <cx:pt idx="7">Esmaltação</cx:pt>
        </cx:lvl>
      </cx:strDim>
      <cx:numDim type="val">
        <cx:f dir="row">Planilha1!$C$4:$J$4</cx:f>
        <cx:lvl ptCount="8" formatCode="_-&quot;R$&quot;\ * #.##0,00_-;\-&quot;R$&quot;\ * #.##0,00_-;_-&quot;R$&quot;\ * &quot;-&quot;??_-;_-@_-">
          <cx:pt idx="0">1443.4188938806378</cx:pt>
          <cx:pt idx="1">1494.2919658278327</cx:pt>
          <cx:pt idx="2">751.25957979922987</cx:pt>
          <cx:pt idx="3">597.33208419966991</cx:pt>
          <cx:pt idx="4">400.68342610010995</cx:pt>
          <cx:pt idx="5">162.09629429317931</cx:pt>
          <cx:pt idx="6">393.40579173542335</cx:pt>
          <cx:pt idx="7">360.69534756600649</cx:pt>
        </cx:lvl>
      </cx:numDim>
    </cx:data>
    <cx:data id="2">
      <cx:strDim type="cat">
        <cx:f dir="row">Planilha1!$C$2:$J$2</cx:f>
        <cx:lvl ptCount="8">
          <cx:pt idx="0">Vol. 3D</cx:pt>
          <cx:pt idx="1">Vol. Híbrido</cx:pt>
          <cx:pt idx="2">Vol. Russo</cx:pt>
          <cx:pt idx="3">Mega Vol.</cx:pt>
          <cx:pt idx="4">Com henna</cx:pt>
          <cx:pt idx="5">Sem henna</cx:pt>
          <cx:pt idx="6">Alongamento</cx:pt>
          <cx:pt idx="7">Esmaltação</cx:pt>
        </cx:lvl>
      </cx:strDim>
      <cx:numDim type="val">
        <cx:f dir="row">Planilha1!$C$5:$J$5</cx:f>
        <cx:lvl ptCount="8" formatCode="_-&quot;R$&quot;\ * #.##0,00_-;\-&quot;R$&quot;\ * #.##0,00_-;_-&quot;R$&quot;\ * &quot;-&quot;??_-;_-@_-">
          <cx:pt idx="0">1177.6019352997798</cx:pt>
          <cx:pt idx="1">1101.025529771727</cx:pt>
          <cx:pt idx="2">580.5628776127611</cx:pt>
          <cx:pt idx="3">497.45103458470834</cx:pt>
          <cx:pt idx="4">348.46920730198008</cx:pt>
          <cx:pt idx="5">154.40630988723871</cx:pt>
          <cx:pt idx="6">331.66553458470833</cx:pt>
          <cx:pt idx="7">336.14530081133103</cx:pt>
        </cx:lvl>
      </cx:numDim>
    </cx:data>
    <cx:data id="3">
      <cx:strDim type="cat">
        <cx:f dir="row">Planilha1!$C$2:$J$2</cx:f>
        <cx:lvl ptCount="8">
          <cx:pt idx="0">Vol. 3D</cx:pt>
          <cx:pt idx="1">Vol. Híbrido</cx:pt>
          <cx:pt idx="2">Vol. Russo</cx:pt>
          <cx:pt idx="3">Mega Vol.</cx:pt>
          <cx:pt idx="4">Com henna</cx:pt>
          <cx:pt idx="5">Sem henna</cx:pt>
          <cx:pt idx="6">Alongamento</cx:pt>
          <cx:pt idx="7">Esmaltação</cx:pt>
        </cx:lvl>
      </cx:strDim>
      <cx:numDim type="val">
        <cx:f dir="row">Planilha1!$C$6:$J$6</cx:f>
        <cx:lvl ptCount="8" formatCode="_-&quot;R$&quot;\ * #.##0,00_-;\-&quot;R$&quot;\ * #.##0,00_-;_-&quot;R$&quot;\ * &quot;-&quot;??_-;_-@_-">
          <cx:pt idx="0">1462.3980647002202</cx:pt>
          <cx:pt idx="1">1598.974470228273</cx:pt>
          <cx:pt idx="2">914.4371223872389</cx:pt>
          <cx:pt idx="3">942.5489654152916</cx:pt>
          <cx:pt idx="4">-153.46920730198008</cx:pt>
          <cx:pt idx="5">70.593690112761294</cx:pt>
          <cx:pt idx="6">368.33446541529167</cx:pt>
          <cx:pt idx="7">313.85469918866897</cx:pt>
        </cx:lvl>
      </cx:numDim>
    </cx:data>
  </cx:chartData>
  <cx:chart>
    <cx:title pos="t" align="ctr" overlay="0">
      <cx:tx>
        <cx:txData>
          <cx:v>Faturamento por Modalidade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2000">
              <a:latin typeface="+mj-lt"/>
            </a:defRPr>
          </a:pPr>
          <a:r>
            <a:rPr lang="pt-BR" sz="2000" b="0" i="0" u="none" strike="noStrike" baseline="0" dirty="0">
              <a:solidFill>
                <a:schemeClr val="tx1"/>
              </a:solidFill>
              <a:latin typeface="+mj-lt"/>
            </a:rPr>
            <a:t>Faturamento por Modalidade</a:t>
          </a:r>
        </a:p>
      </cx:txPr>
    </cx:title>
    <cx:plotArea>
      <cx:plotAreaRegion>
        <cx:series layoutId="clusteredColumn" uniqueId="{BA517044-3037-438A-AFF7-64DCE3C9302B}" formatIdx="0">
          <cx:tx>
            <cx:txData>
              <cx:f>Planilha1!$B$3</cx:f>
              <cx:v>Faturamento</cx:v>
            </cx:txData>
          </cx:tx>
          <cx:spPr>
            <a:solidFill>
              <a:srgbClr val="0070C0"/>
            </a:solidFill>
          </cx:spPr>
          <cx:dataId val="0"/>
          <cx:layoutPr>
            <cx:aggregation/>
          </cx:layoutPr>
          <cx:axisId val="1"/>
        </cx:series>
        <cx:series layoutId="paretoLine" ownerIdx="0" uniqueId="{CF2F2DBD-940F-4133-AC7A-1A4CFEF54989}" formatIdx="1">
          <cx:axisId val="2"/>
        </cx:series>
        <cx:series layoutId="clusteredColumn" hidden="1" uniqueId="{2707C02C-958C-41F8-8598-18D9B718FF1E}" formatIdx="2">
          <cx:tx>
            <cx:txData>
              <cx:f>Planilha1!$B$4</cx:f>
              <cx:v>Integral</cx:v>
            </cx:txData>
          </cx:tx>
          <cx:dataId val="1"/>
          <cx:layoutPr>
            <cx:aggregation/>
          </cx:layoutPr>
          <cx:axisId val="1"/>
        </cx:series>
        <cx:series layoutId="paretoLine" ownerIdx="2" uniqueId="{1BADB7F3-24AF-4589-8CDE-4C123F8C1E2E}" formatIdx="3">
          <cx:axisId val="2"/>
        </cx:series>
        <cx:series layoutId="clusteredColumn" hidden="1" uniqueId="{FA5DBF1B-B7E8-416B-8656-0A5720275196}" formatIdx="4">
          <cx:tx>
            <cx:txData>
              <cx:v>Parcial</cx:v>
            </cx:txData>
          </cx:tx>
          <cx:dataId val="2"/>
          <cx:layoutPr>
            <cx:aggregation/>
          </cx:layoutPr>
          <cx:axisId val="1"/>
        </cx:series>
        <cx:series layoutId="paretoLine" ownerIdx="4" uniqueId="{08568488-6FCB-4689-B4F8-B764F169CAAD}" formatIdx="5">
          <cx:axisId val="2"/>
        </cx:series>
        <cx:series layoutId="clusteredColumn" hidden="1" uniqueId="{C207433D-47E7-4C6E-B767-787B705904A2}" formatIdx="6">
          <cx:tx>
            <cx:txData>
              <cx:v>Lucro</cx:v>
            </cx:txData>
          </cx:tx>
          <cx:dataId val="3"/>
          <cx:layoutPr>
            <cx:aggregation/>
          </cx:layoutPr>
          <cx:axisId val="1"/>
        </cx:series>
        <cx:series layoutId="paretoLine" ownerIdx="6" uniqueId="{7A3E26DB-D3F9-413E-8830-9793BD4CA9A9}" formatIdx="7">
          <cx:axisId val="2"/>
        </cx:series>
      </cx:plotAreaRegion>
      <cx:axis id="0">
        <cx:catScaling gapWidth="0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pt-BR" sz="1200">
              <a:solidFill>
                <a:schemeClr val="tx1"/>
              </a:solidFill>
              <a:latin typeface="+mj-lt"/>
            </a:endParaRPr>
          </a:p>
        </cx:txPr>
      </cx:axis>
      <cx:axis id="1">
        <cx:valScaling/>
        <cx:majorGridlines/>
        <cx:minorTickMarks type="in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pt-BR" sz="1200">
              <a:solidFill>
                <a:schemeClr val="tx1"/>
              </a:solidFill>
              <a:latin typeface="+mj-lt"/>
            </a:endParaRPr>
          </a:p>
        </cx:txPr>
      </cx:axis>
      <cx:axis id="2">
        <cx:valScaling max="1" min="0"/>
        <cx:units unit="percentage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pPr>
            <a:endParaRPr lang="pt-BR" sz="1200">
              <a:solidFill>
                <a:schemeClr val="tx1"/>
              </a:solidFill>
              <a:latin typeface="+mj-lt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2EE24-8574-4BF0-B9D0-122364FFE179}" type="datetimeFigureOut">
              <a:rPr lang="pt-BR" smtClean="0"/>
              <a:t>29/08/2023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4F2AE-B85A-4E02-9160-584AA324AB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26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52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28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900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055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884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275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994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931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00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399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336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945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87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237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449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F2AE-B85A-4E02-9160-584AA324AB65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61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432" y="1740934"/>
            <a:ext cx="9267567" cy="51170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7543" y="70103"/>
            <a:ext cx="2051303" cy="6096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935479" y="2151888"/>
            <a:ext cx="8577580" cy="4182110"/>
          </a:xfrm>
          <a:custGeom>
            <a:avLst/>
            <a:gdLst/>
            <a:ahLst/>
            <a:cxnLst/>
            <a:rect l="l" t="t" r="r" b="b"/>
            <a:pathLst>
              <a:path w="8577580" h="4182110">
                <a:moveTo>
                  <a:pt x="8577072" y="0"/>
                </a:moveTo>
                <a:lnTo>
                  <a:pt x="0" y="0"/>
                </a:lnTo>
                <a:lnTo>
                  <a:pt x="0" y="4181855"/>
                </a:lnTo>
                <a:lnTo>
                  <a:pt x="8577072" y="4181855"/>
                </a:lnTo>
                <a:lnTo>
                  <a:pt x="857707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935479" y="2151888"/>
            <a:ext cx="8577580" cy="4182110"/>
          </a:xfrm>
          <a:custGeom>
            <a:avLst/>
            <a:gdLst/>
            <a:ahLst/>
            <a:cxnLst/>
            <a:rect l="l" t="t" r="r" b="b"/>
            <a:pathLst>
              <a:path w="8577580" h="4182110">
                <a:moveTo>
                  <a:pt x="0" y="4181855"/>
                </a:moveTo>
                <a:lnTo>
                  <a:pt x="8577072" y="4181855"/>
                </a:lnTo>
                <a:lnTo>
                  <a:pt x="8577072" y="0"/>
                </a:lnTo>
                <a:lnTo>
                  <a:pt x="0" y="0"/>
                </a:lnTo>
                <a:lnTo>
                  <a:pt x="0" y="4181855"/>
                </a:lnTo>
                <a:close/>
              </a:path>
            </a:pathLst>
          </a:custGeom>
          <a:ln w="12191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3391" y="2215895"/>
            <a:ext cx="8436864" cy="40538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7684" y="376174"/>
            <a:ext cx="10936630" cy="512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432" y="1740934"/>
            <a:ext cx="9267567" cy="51170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7543" y="70103"/>
            <a:ext cx="2051303" cy="6096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0" y="2313432"/>
            <a:ext cx="3261360" cy="15179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F9A2D6D3-12FE-EC08-CE7D-0442FEDB12BD}"/>
              </a:ext>
            </a:extLst>
          </p:cNvPr>
          <p:cNvGrpSpPr/>
          <p:nvPr userDrawn="1"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0B39139-86C9-0587-1F64-0624895F8990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4C7A8871-211C-26DC-8AA7-9D5A84E20D74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1</a:t>
              </a:r>
              <a:endParaRPr sz="3200" dirty="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B1B84FCC-8398-4225-DD06-AABDBFDD2471}"/>
              </a:ext>
            </a:extLst>
          </p:cNvPr>
          <p:cNvGrpSpPr/>
          <p:nvPr userDrawn="1"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2D39CC3-7E46-9E2A-D9BE-086064803445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943AD268-8365-0392-92D6-014E634F942F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1</a:t>
              </a:r>
              <a:endParaRPr sz="3200"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24432" y="1740934"/>
            <a:ext cx="9267567" cy="511706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67543" y="70103"/>
            <a:ext cx="2051303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4957" y="2617419"/>
            <a:ext cx="8562085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8418" y="1511046"/>
            <a:ext cx="10475163" cy="441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7684" y="6520763"/>
            <a:ext cx="249364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678170" y="6503923"/>
            <a:ext cx="23260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9260" y="6520763"/>
            <a:ext cx="230504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617419"/>
            <a:ext cx="10896599" cy="83163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7780" marR="5080" indent="454025">
              <a:lnSpc>
                <a:spcPts val="3030"/>
              </a:lnSpc>
              <a:spcBef>
                <a:spcPts val="484"/>
              </a:spcBef>
            </a:pP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PROPOSTA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CUSTEIO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MICROEMPRESA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SEGMENTO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ESTÉTICA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2994" y="4215940"/>
            <a:ext cx="5380355" cy="9353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Aluno: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Bruno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Abreu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Corrêa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Orientadora: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Prof.ª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Joana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Siqueira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Souza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729183"/>
            <a:ext cx="50057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/>
              <a:t>Cronograma</a:t>
            </a:r>
            <a:r>
              <a:rPr sz="3200" spc="40" dirty="0"/>
              <a:t> </a:t>
            </a:r>
            <a:r>
              <a:rPr sz="3200" spc="-15" dirty="0"/>
              <a:t>da</a:t>
            </a:r>
            <a:r>
              <a:rPr sz="3200" spc="-5" dirty="0"/>
              <a:t> </a:t>
            </a:r>
            <a:r>
              <a:rPr sz="3200" spc="-20" dirty="0"/>
              <a:t>Apresentação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Tema</a:t>
            </a:r>
            <a:r>
              <a:rPr spc="1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20" dirty="0"/>
              <a:t>Trabalho:</a:t>
            </a:r>
            <a:r>
              <a:rPr spc="35" dirty="0"/>
              <a:t> </a:t>
            </a:r>
            <a:r>
              <a:rPr spc="-10" dirty="0"/>
              <a:t>Sistema</a:t>
            </a:r>
            <a:r>
              <a:rPr spc="15" dirty="0"/>
              <a:t> </a:t>
            </a:r>
            <a:r>
              <a:rPr spc="-5" dirty="0"/>
              <a:t>de</a:t>
            </a:r>
            <a:r>
              <a:rPr spc="15" dirty="0"/>
              <a:t> </a:t>
            </a:r>
            <a:r>
              <a:rPr spc="-5" dirty="0"/>
              <a:t>Custos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Nome</a:t>
            </a:r>
            <a:r>
              <a:rPr spc="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10" dirty="0"/>
              <a:t>Aluno:</a:t>
            </a:r>
            <a:r>
              <a:rPr spc="40" dirty="0"/>
              <a:t> </a:t>
            </a:r>
            <a:r>
              <a:rPr spc="-10" dirty="0"/>
              <a:t>Bruno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Abreu</a:t>
            </a:r>
            <a:r>
              <a:rPr dirty="0"/>
              <a:t> </a:t>
            </a:r>
            <a:r>
              <a:rPr spc="-10" dirty="0"/>
              <a:t>Corrêa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27684" y="1285288"/>
            <a:ext cx="3439795" cy="4603824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11150" indent="-299085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311785" algn="l"/>
              </a:tabLst>
            </a:pPr>
            <a:r>
              <a:rPr sz="2400" spc="-10" dirty="0">
                <a:latin typeface="Calibri"/>
                <a:cs typeface="Calibri"/>
              </a:rPr>
              <a:t>Contextualização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11785" algn="l"/>
              </a:tabLst>
            </a:pPr>
            <a:r>
              <a:rPr sz="2400" spc="-5" dirty="0">
                <a:latin typeface="Calibri"/>
                <a:cs typeface="Calibri"/>
              </a:rPr>
              <a:t>Problema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Pesquisa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1785" algn="l"/>
              </a:tabLst>
            </a:pPr>
            <a:r>
              <a:rPr sz="2400" spc="-55" dirty="0">
                <a:latin typeface="Calibri"/>
                <a:cs typeface="Calibri"/>
              </a:rPr>
              <a:t>Tema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Objetivos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1785" algn="l"/>
              </a:tabLst>
            </a:pPr>
            <a:r>
              <a:rPr sz="2400" spc="-10" dirty="0">
                <a:latin typeface="Calibri"/>
                <a:cs typeface="Calibri"/>
              </a:rPr>
              <a:t>Justificativa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11785" algn="l"/>
              </a:tabLst>
            </a:pPr>
            <a:r>
              <a:rPr sz="2400" spc="-15" dirty="0">
                <a:latin typeface="Calibri"/>
                <a:cs typeface="Calibri"/>
              </a:rPr>
              <a:t>Referencial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Teórico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11785" algn="l"/>
              </a:tabLst>
            </a:pPr>
            <a:r>
              <a:rPr sz="2400" dirty="0">
                <a:latin typeface="Calibri"/>
                <a:cs typeface="Calibri"/>
              </a:rPr>
              <a:t>Cenário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Pesquisa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11785" algn="l"/>
              </a:tabLst>
            </a:pPr>
            <a:r>
              <a:rPr sz="2400" spc="-5" dirty="0" err="1">
                <a:latin typeface="Calibri"/>
                <a:cs typeface="Calibri"/>
              </a:rPr>
              <a:t>Métodos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Pesquisa</a:t>
            </a:r>
            <a:endParaRPr sz="24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311785" algn="l"/>
              </a:tabLst>
            </a:pPr>
            <a:r>
              <a:rPr lang="pt-BR" sz="2400" spc="-10" dirty="0">
                <a:latin typeface="Calibri"/>
                <a:cs typeface="Calibri"/>
              </a:rPr>
              <a:t>Cronograma da Pesquisa</a:t>
            </a:r>
          </a:p>
          <a:p>
            <a:pPr marL="311150" indent="-29908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311785" algn="l"/>
              </a:tabLst>
            </a:pPr>
            <a:r>
              <a:rPr lang="pt-BR" sz="2400" spc="-10" dirty="0">
                <a:latin typeface="Calibri"/>
                <a:cs typeface="Calibri"/>
              </a:rPr>
              <a:t>Resultados</a:t>
            </a:r>
            <a:endParaRPr sz="2400" dirty="0">
              <a:latin typeface="Calibri"/>
              <a:cs typeface="Calibri"/>
            </a:endParaRPr>
          </a:p>
          <a:p>
            <a:pPr marL="462915" indent="-45085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3550" algn="l"/>
              </a:tabLst>
            </a:pPr>
            <a:r>
              <a:rPr lang="pt-BR" sz="2400" spc="-10" dirty="0">
                <a:latin typeface="Calibri"/>
                <a:cs typeface="Calibri"/>
              </a:rPr>
              <a:t>Conclusão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383667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+mj-lt"/>
              </a:rPr>
              <a:t>1.</a:t>
            </a:r>
            <a:r>
              <a:rPr sz="3200" spc="-25" dirty="0">
                <a:latin typeface="+mj-lt"/>
              </a:rPr>
              <a:t> </a:t>
            </a:r>
            <a:r>
              <a:rPr sz="3200" spc="-20" dirty="0">
                <a:latin typeface="+mj-lt"/>
              </a:rPr>
              <a:t>Contextualização</a:t>
            </a:r>
            <a:endParaRPr sz="3200" dirty="0"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4464" y="2407920"/>
            <a:ext cx="2380487" cy="21433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07095" y="1645920"/>
            <a:ext cx="2837815" cy="360355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650"/>
              </a:spcBef>
            </a:pPr>
            <a:r>
              <a:rPr sz="1800" spc="-10" dirty="0">
                <a:latin typeface="+mj-lt"/>
                <a:cs typeface="Calibri"/>
              </a:rPr>
              <a:t>Pandemia</a:t>
            </a:r>
            <a:r>
              <a:rPr sz="1800" spc="20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–</a:t>
            </a:r>
            <a:r>
              <a:rPr sz="1800" spc="-30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Covid</a:t>
            </a:r>
            <a:r>
              <a:rPr sz="1800" spc="-10" dirty="0">
                <a:latin typeface="+mj-lt"/>
                <a:cs typeface="Calibri"/>
              </a:rPr>
              <a:t> </a:t>
            </a:r>
            <a:r>
              <a:rPr sz="1800" spc="-5" dirty="0">
                <a:latin typeface="+mj-lt"/>
                <a:cs typeface="Calibri"/>
              </a:rPr>
              <a:t>19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0" y="5064541"/>
            <a:ext cx="2559050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+mj-lt"/>
                <a:cs typeface="Calibri"/>
              </a:rPr>
              <a:t>Isolamento </a:t>
            </a:r>
            <a:r>
              <a:rPr sz="1600" spc="-5" dirty="0">
                <a:latin typeface="+mj-lt"/>
                <a:cs typeface="Calibri"/>
              </a:rPr>
              <a:t>Social</a:t>
            </a:r>
            <a:endParaRPr sz="1600" dirty="0">
              <a:latin typeface="+mj-lt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+mj-lt"/>
                <a:cs typeface="Calibri"/>
              </a:rPr>
              <a:t>Demissões</a:t>
            </a:r>
            <a:endParaRPr sz="1600" dirty="0">
              <a:latin typeface="+mj-lt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+mj-lt"/>
                <a:cs typeface="Calibri"/>
              </a:rPr>
              <a:t>Redução</a:t>
            </a:r>
            <a:r>
              <a:rPr sz="1600" spc="-5" dirty="0">
                <a:latin typeface="+mj-lt"/>
                <a:cs typeface="Calibri"/>
              </a:rPr>
              <a:t> </a:t>
            </a:r>
            <a:r>
              <a:rPr sz="1600" dirty="0">
                <a:latin typeface="+mj-lt"/>
                <a:cs typeface="Calibri"/>
              </a:rPr>
              <a:t>de</a:t>
            </a:r>
            <a:r>
              <a:rPr sz="1600" spc="-5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Oportunidades</a:t>
            </a:r>
            <a:endParaRPr sz="1600" dirty="0">
              <a:latin typeface="+mj-lt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1832" y="2468879"/>
            <a:ext cx="1615439" cy="23195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42232" y="1645920"/>
            <a:ext cx="2837815" cy="360355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+mj-lt"/>
                <a:cs typeface="Calibri"/>
              </a:rPr>
              <a:t>IBGE</a:t>
            </a:r>
            <a:r>
              <a:rPr sz="1800" spc="-35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–</a:t>
            </a:r>
            <a:r>
              <a:rPr sz="1800" spc="-5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Pesquisa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8600" y="5067589"/>
            <a:ext cx="38366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+mj-lt"/>
                <a:cs typeface="Calibri"/>
              </a:rPr>
              <a:t>Gasta-se</a:t>
            </a:r>
            <a:r>
              <a:rPr sz="1600" spc="-20" dirty="0">
                <a:latin typeface="+mj-lt"/>
                <a:cs typeface="Calibri"/>
              </a:rPr>
              <a:t> </a:t>
            </a:r>
            <a:r>
              <a:rPr sz="1600" dirty="0">
                <a:latin typeface="+mj-lt"/>
                <a:cs typeface="Calibri"/>
              </a:rPr>
              <a:t>mais</a:t>
            </a:r>
            <a:r>
              <a:rPr sz="1600" spc="-15" dirty="0">
                <a:latin typeface="+mj-lt"/>
                <a:cs typeface="Calibri"/>
              </a:rPr>
              <a:t> com</a:t>
            </a:r>
            <a:r>
              <a:rPr sz="1600" spc="5" dirty="0">
                <a:latin typeface="+mj-lt"/>
                <a:cs typeface="Calibri"/>
              </a:rPr>
              <a:t> </a:t>
            </a:r>
            <a:r>
              <a:rPr sz="1600" spc="-15" dirty="0">
                <a:latin typeface="+mj-lt"/>
                <a:cs typeface="Calibri"/>
              </a:rPr>
              <a:t>beleza</a:t>
            </a:r>
            <a:r>
              <a:rPr sz="1600" spc="10" dirty="0">
                <a:latin typeface="+mj-lt"/>
                <a:cs typeface="Calibri"/>
              </a:rPr>
              <a:t> </a:t>
            </a:r>
            <a:r>
              <a:rPr sz="1600" spc="-5" dirty="0">
                <a:latin typeface="+mj-lt"/>
                <a:cs typeface="Calibri"/>
              </a:rPr>
              <a:t>que</a:t>
            </a:r>
            <a:r>
              <a:rPr sz="1600" spc="-15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alimentação</a:t>
            </a:r>
            <a:endParaRPr sz="1600" dirty="0">
              <a:latin typeface="+mj-lt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spc="-5" dirty="0">
                <a:latin typeface="+mj-lt"/>
                <a:cs typeface="Calibri"/>
              </a:rPr>
              <a:t>Ranking</a:t>
            </a:r>
            <a:r>
              <a:rPr sz="1600" spc="-10" dirty="0">
                <a:latin typeface="+mj-lt"/>
                <a:cs typeface="Calibri"/>
              </a:rPr>
              <a:t> </a:t>
            </a:r>
            <a:r>
              <a:rPr sz="1600" spc="-5" dirty="0">
                <a:latin typeface="+mj-lt"/>
                <a:cs typeface="Calibri"/>
              </a:rPr>
              <a:t>do</a:t>
            </a:r>
            <a:r>
              <a:rPr sz="1600" spc="-20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Brasil</a:t>
            </a:r>
            <a:r>
              <a:rPr sz="1600" dirty="0">
                <a:latin typeface="+mj-lt"/>
                <a:cs typeface="Calibri"/>
              </a:rPr>
              <a:t> </a:t>
            </a:r>
            <a:r>
              <a:rPr sz="1600" spc="-15" dirty="0">
                <a:latin typeface="+mj-lt"/>
                <a:cs typeface="Calibri"/>
              </a:rPr>
              <a:t>neste</a:t>
            </a:r>
            <a:r>
              <a:rPr sz="1600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mercado</a:t>
            </a:r>
            <a:endParaRPr sz="1600" dirty="0">
              <a:latin typeface="+mj-lt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0" y="2465832"/>
            <a:ext cx="1371599" cy="74066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6703" y="3282535"/>
            <a:ext cx="271753" cy="2598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70583" y="3839870"/>
            <a:ext cx="948537" cy="71140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8431" y="1645920"/>
            <a:ext cx="2837815" cy="360355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+mj-lt"/>
                <a:cs typeface="Calibri"/>
              </a:rPr>
              <a:t>SEBRAE</a:t>
            </a:r>
            <a:r>
              <a:rPr sz="1800" spc="-35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e</a:t>
            </a:r>
            <a:r>
              <a:rPr sz="1800" spc="5" dirty="0">
                <a:latin typeface="+mj-lt"/>
                <a:cs typeface="Calibri"/>
              </a:rPr>
              <a:t> </a:t>
            </a:r>
            <a:r>
              <a:rPr sz="1800" spc="-20" dirty="0">
                <a:latin typeface="+mj-lt"/>
                <a:cs typeface="Calibri"/>
              </a:rPr>
              <a:t>FGV</a:t>
            </a:r>
            <a:r>
              <a:rPr sz="1800" spc="15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-</a:t>
            </a:r>
            <a:r>
              <a:rPr sz="1800" spc="-10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Pesquisa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Tema</a:t>
            </a:r>
            <a:r>
              <a:rPr spc="1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20" dirty="0"/>
              <a:t>Trabalho:</a:t>
            </a:r>
            <a:r>
              <a:rPr spc="35" dirty="0"/>
              <a:t> </a:t>
            </a:r>
            <a:r>
              <a:rPr spc="-10" dirty="0"/>
              <a:t>Sistema</a:t>
            </a:r>
            <a:r>
              <a:rPr spc="15" dirty="0"/>
              <a:t> </a:t>
            </a:r>
            <a:r>
              <a:rPr spc="-5" dirty="0"/>
              <a:t>de</a:t>
            </a:r>
            <a:r>
              <a:rPr spc="15" dirty="0"/>
              <a:t> </a:t>
            </a:r>
            <a:r>
              <a:rPr spc="-5" dirty="0"/>
              <a:t>Custos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Nome</a:t>
            </a:r>
            <a:r>
              <a:rPr spc="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10" dirty="0"/>
              <a:t>Aluno:</a:t>
            </a:r>
            <a:r>
              <a:rPr spc="40" dirty="0"/>
              <a:t> </a:t>
            </a:r>
            <a:r>
              <a:rPr spc="-10" dirty="0"/>
              <a:t>Bruno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Abreu</a:t>
            </a:r>
            <a:r>
              <a:rPr dirty="0"/>
              <a:t> </a:t>
            </a:r>
            <a:r>
              <a:rPr spc="-10" dirty="0"/>
              <a:t>Corrêa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27684" y="5067589"/>
            <a:ext cx="3029916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+mj-lt"/>
                <a:cs typeface="Calibri"/>
              </a:rPr>
              <a:t>MPE</a:t>
            </a:r>
            <a:r>
              <a:rPr sz="1600" spc="-35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parcela</a:t>
            </a:r>
            <a:r>
              <a:rPr sz="1600" dirty="0">
                <a:latin typeface="+mj-lt"/>
                <a:cs typeface="Calibri"/>
              </a:rPr>
              <a:t> no</a:t>
            </a:r>
            <a:r>
              <a:rPr sz="1600" spc="-30" dirty="0">
                <a:latin typeface="+mj-lt"/>
                <a:cs typeface="Calibri"/>
              </a:rPr>
              <a:t> </a:t>
            </a:r>
            <a:r>
              <a:rPr sz="1600" dirty="0">
                <a:latin typeface="+mj-lt"/>
                <a:cs typeface="Calibri"/>
              </a:rPr>
              <a:t>PIB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+mj-lt"/>
                <a:cs typeface="Calibri"/>
              </a:rPr>
              <a:t>MEI</a:t>
            </a:r>
            <a:r>
              <a:rPr sz="1600" spc="-25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geram</a:t>
            </a:r>
            <a:r>
              <a:rPr sz="1600" spc="-25" dirty="0">
                <a:latin typeface="+mj-lt"/>
                <a:cs typeface="Calibri"/>
              </a:rPr>
              <a:t> </a:t>
            </a:r>
            <a:r>
              <a:rPr sz="1600" spc="-10" dirty="0">
                <a:latin typeface="+mj-lt"/>
                <a:cs typeface="Calibri"/>
              </a:rPr>
              <a:t>parcela</a:t>
            </a:r>
            <a:r>
              <a:rPr sz="1600" spc="15" dirty="0">
                <a:latin typeface="+mj-lt"/>
                <a:cs typeface="Calibri"/>
              </a:rPr>
              <a:t> </a:t>
            </a:r>
            <a:r>
              <a:rPr sz="1600" spc="-15" dirty="0">
                <a:latin typeface="+mj-lt"/>
                <a:cs typeface="Calibri"/>
              </a:rPr>
              <a:t>significativa</a:t>
            </a:r>
            <a:endParaRPr sz="1600" dirty="0"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02051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+mj-lt"/>
              </a:rPr>
              <a:t>1.</a:t>
            </a:r>
            <a:r>
              <a:rPr sz="3200" spc="-25" dirty="0">
                <a:latin typeface="+mj-lt"/>
              </a:rPr>
              <a:t> </a:t>
            </a:r>
            <a:r>
              <a:rPr sz="3200" spc="-20" dirty="0">
                <a:latin typeface="+mj-lt"/>
              </a:rPr>
              <a:t>Contextualização</a:t>
            </a:r>
            <a:endParaRPr sz="3200"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684" y="1374089"/>
            <a:ext cx="70351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+mj-lt"/>
                <a:cs typeface="Calibri"/>
              </a:rPr>
              <a:t>Então</a:t>
            </a:r>
            <a:r>
              <a:rPr sz="2400" spc="-35" dirty="0">
                <a:latin typeface="+mj-lt"/>
                <a:cs typeface="Calibri"/>
              </a:rPr>
              <a:t> </a:t>
            </a:r>
            <a:r>
              <a:rPr sz="2400" spc="-5" dirty="0">
                <a:latin typeface="+mj-lt"/>
                <a:cs typeface="Calibri"/>
              </a:rPr>
              <a:t>houve</a:t>
            </a:r>
            <a:r>
              <a:rPr sz="2400" spc="-30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um</a:t>
            </a:r>
            <a:r>
              <a:rPr sz="2400" spc="-10" dirty="0">
                <a:latin typeface="+mj-lt"/>
                <a:cs typeface="Calibri"/>
              </a:rPr>
              <a:t> </a:t>
            </a:r>
            <a:r>
              <a:rPr sz="2400" spc="-5" dirty="0">
                <a:latin typeface="+mj-lt"/>
                <a:cs typeface="Calibri"/>
              </a:rPr>
              <a:t>aumento</a:t>
            </a:r>
            <a:r>
              <a:rPr sz="2400" spc="-55" dirty="0">
                <a:latin typeface="+mj-lt"/>
                <a:cs typeface="Calibri"/>
              </a:rPr>
              <a:t> </a:t>
            </a:r>
            <a:r>
              <a:rPr sz="2400" spc="-10" dirty="0">
                <a:latin typeface="+mj-lt"/>
                <a:cs typeface="Calibri"/>
              </a:rPr>
              <a:t>significativo</a:t>
            </a:r>
            <a:r>
              <a:rPr sz="2400" spc="-30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na</a:t>
            </a:r>
            <a:r>
              <a:rPr sz="2400" spc="-10" dirty="0">
                <a:latin typeface="+mj-lt"/>
                <a:cs typeface="Calibri"/>
              </a:rPr>
              <a:t> </a:t>
            </a:r>
            <a:r>
              <a:rPr sz="2400" spc="-15" dirty="0">
                <a:latin typeface="+mj-lt"/>
                <a:cs typeface="Calibri"/>
              </a:rPr>
              <a:t>geração</a:t>
            </a:r>
            <a:r>
              <a:rPr sz="2400" spc="-5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de</a:t>
            </a:r>
            <a:r>
              <a:rPr sz="2400" spc="-5" dirty="0">
                <a:latin typeface="+mj-lt"/>
                <a:cs typeface="Calibri"/>
              </a:rPr>
              <a:t> </a:t>
            </a:r>
            <a:r>
              <a:rPr sz="2400" spc="-10" dirty="0">
                <a:latin typeface="+mj-lt"/>
                <a:cs typeface="Calibri"/>
              </a:rPr>
              <a:t>(...)</a:t>
            </a:r>
            <a:endParaRPr sz="2400" dirty="0">
              <a:latin typeface="+mj-lt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2321435"/>
            <a:ext cx="2045208" cy="22280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34000" y="4661362"/>
            <a:ext cx="9118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+mj-lt"/>
                <a:cs typeface="Calibri"/>
              </a:rPr>
              <a:t>MEI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Tema</a:t>
            </a:r>
            <a:r>
              <a:rPr spc="1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20" dirty="0"/>
              <a:t>Trabalho:</a:t>
            </a:r>
            <a:r>
              <a:rPr spc="35" dirty="0"/>
              <a:t> </a:t>
            </a:r>
            <a:r>
              <a:rPr spc="-10" dirty="0"/>
              <a:t>Sistema</a:t>
            </a:r>
            <a:r>
              <a:rPr spc="15" dirty="0"/>
              <a:t> </a:t>
            </a:r>
            <a:r>
              <a:rPr spc="-5" dirty="0"/>
              <a:t>de</a:t>
            </a:r>
            <a:r>
              <a:rPr spc="15" dirty="0"/>
              <a:t> </a:t>
            </a:r>
            <a:r>
              <a:rPr spc="-5" dirty="0"/>
              <a:t>Custos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Nome</a:t>
            </a:r>
            <a:r>
              <a:rPr spc="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10" dirty="0"/>
              <a:t>Aluno:</a:t>
            </a:r>
            <a:r>
              <a:rPr spc="40" dirty="0"/>
              <a:t> </a:t>
            </a:r>
            <a:r>
              <a:rPr spc="-10" dirty="0"/>
              <a:t>Bruno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Abreu</a:t>
            </a:r>
            <a:r>
              <a:rPr dirty="0"/>
              <a:t> </a:t>
            </a:r>
            <a:r>
              <a:rPr spc="-10" dirty="0"/>
              <a:t>Corrêa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96234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+mj-lt"/>
              </a:rPr>
              <a:t>2.</a:t>
            </a:r>
            <a:r>
              <a:rPr sz="3200" spc="-15" dirty="0">
                <a:latin typeface="+mj-lt"/>
              </a:rPr>
              <a:t> Problema</a:t>
            </a:r>
            <a:r>
              <a:rPr sz="3200" spc="5" dirty="0">
                <a:latin typeface="+mj-lt"/>
              </a:rPr>
              <a:t> </a:t>
            </a:r>
            <a:r>
              <a:rPr sz="3200" spc="-10" dirty="0">
                <a:latin typeface="+mj-lt"/>
              </a:rPr>
              <a:t>de</a:t>
            </a:r>
            <a:r>
              <a:rPr sz="3200" spc="-5" dirty="0">
                <a:latin typeface="+mj-lt"/>
              </a:rPr>
              <a:t> </a:t>
            </a:r>
            <a:r>
              <a:rPr sz="3200" spc="-15" dirty="0">
                <a:latin typeface="+mj-lt"/>
              </a:rPr>
              <a:t>Pesquisa</a:t>
            </a:r>
            <a:endParaRPr sz="3200" dirty="0"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2435351"/>
            <a:ext cx="2020824" cy="21214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92223" y="1621535"/>
            <a:ext cx="2399030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615"/>
              </a:spcBef>
            </a:pPr>
            <a:r>
              <a:rPr sz="1800" spc="-10" dirty="0">
                <a:latin typeface="+mj-lt"/>
                <a:cs typeface="Calibri"/>
              </a:rPr>
              <a:t>Sazonalidade</a:t>
            </a:r>
            <a:endParaRPr sz="1800" dirty="0">
              <a:latin typeface="+mj-lt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1663" y="2435351"/>
            <a:ext cx="2090927" cy="20909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49368" y="1621535"/>
            <a:ext cx="2243455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67055">
              <a:lnSpc>
                <a:spcPct val="100000"/>
              </a:lnSpc>
              <a:spcBef>
                <a:spcPts val="615"/>
              </a:spcBef>
            </a:pPr>
            <a:r>
              <a:rPr sz="1800" spc="-5" dirty="0">
                <a:latin typeface="+mj-lt"/>
                <a:cs typeface="Calibri"/>
              </a:rPr>
              <a:t>Competição</a:t>
            </a:r>
            <a:endParaRPr sz="1800" dirty="0">
              <a:latin typeface="+mj-lt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04174" y="2648711"/>
            <a:ext cx="1905000" cy="1904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763382" y="1624583"/>
            <a:ext cx="2246630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88365">
              <a:lnSpc>
                <a:spcPct val="100000"/>
              </a:lnSpc>
              <a:spcBef>
                <a:spcPts val="615"/>
              </a:spcBef>
            </a:pPr>
            <a:r>
              <a:rPr sz="1800" spc="-15" dirty="0">
                <a:latin typeface="+mj-lt"/>
                <a:cs typeface="Calibri"/>
              </a:rPr>
              <a:t>Custos</a:t>
            </a:r>
            <a:endParaRPr sz="1800">
              <a:latin typeface="+mj-lt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Tema</a:t>
            </a:r>
            <a:r>
              <a:rPr spc="1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20" dirty="0"/>
              <a:t>Trabalho:</a:t>
            </a:r>
            <a:r>
              <a:rPr spc="35" dirty="0"/>
              <a:t> </a:t>
            </a:r>
            <a:r>
              <a:rPr spc="-10" dirty="0"/>
              <a:t>Sistema</a:t>
            </a:r>
            <a:r>
              <a:rPr spc="15" dirty="0"/>
              <a:t> </a:t>
            </a:r>
            <a:r>
              <a:rPr spc="-5" dirty="0"/>
              <a:t>de</a:t>
            </a:r>
            <a:r>
              <a:rPr spc="15" dirty="0"/>
              <a:t> </a:t>
            </a:r>
            <a:r>
              <a:rPr spc="-5" dirty="0"/>
              <a:t>Custos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Nome</a:t>
            </a:r>
            <a:r>
              <a:rPr spc="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10" dirty="0"/>
              <a:t>Aluno:</a:t>
            </a:r>
            <a:r>
              <a:rPr spc="40" dirty="0"/>
              <a:t> </a:t>
            </a:r>
            <a:r>
              <a:rPr spc="-10" dirty="0"/>
              <a:t>Bruno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Abreu</a:t>
            </a:r>
            <a:r>
              <a:rPr dirty="0"/>
              <a:t> </a:t>
            </a:r>
            <a:r>
              <a:rPr spc="-10" dirty="0"/>
              <a:t>Corrêa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501111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sz="3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3" name="Espaço Reservado para Rodapé 32">
            <a:extLst>
              <a:ext uri="{FF2B5EF4-FFF2-40B4-BE49-F238E27FC236}">
                <a16:creationId xmlns:a16="http://schemas.microsoft.com/office/drawing/2014/main" id="{3FC37F16-FF8A-2C71-5CAA-33F563C01A0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34" name="Espaço Reservado para Data 33">
            <a:extLst>
              <a:ext uri="{FF2B5EF4-FFF2-40B4-BE49-F238E27FC236}">
                <a16:creationId xmlns:a16="http://schemas.microsoft.com/office/drawing/2014/main" id="{A0E5AD25-2727-EC4B-7E92-D7E6143C6E3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9B5501EC-28F1-CE74-B834-B40FDB42C1D2}"/>
              </a:ext>
            </a:extLst>
          </p:cNvPr>
          <p:cNvGrpSpPr/>
          <p:nvPr/>
        </p:nvGrpSpPr>
        <p:grpSpPr>
          <a:xfrm>
            <a:off x="1345628" y="2618042"/>
            <a:ext cx="3133725" cy="1618615"/>
            <a:chOff x="548640" y="2310384"/>
            <a:chExt cx="3133725" cy="1618615"/>
          </a:xfrm>
          <a:noFill/>
        </p:grpSpPr>
        <p:sp>
          <p:nvSpPr>
            <p:cNvPr id="37" name="object 3">
              <a:extLst>
                <a:ext uri="{FF2B5EF4-FFF2-40B4-BE49-F238E27FC236}">
                  <a16:creationId xmlns:a16="http://schemas.microsoft.com/office/drawing/2014/main" id="{95D56DC6-4748-9333-6B0C-71E1B71A4752}"/>
                </a:ext>
              </a:extLst>
            </p:cNvPr>
            <p:cNvSpPr/>
            <p:nvPr/>
          </p:nvSpPr>
          <p:spPr>
            <a:xfrm>
              <a:off x="548640" y="2310384"/>
              <a:ext cx="3133725" cy="1618615"/>
            </a:xfrm>
            <a:custGeom>
              <a:avLst/>
              <a:gdLst/>
              <a:ahLst/>
              <a:cxnLst/>
              <a:rect l="l" t="t" r="r" b="b"/>
              <a:pathLst>
                <a:path w="3133725" h="1618614">
                  <a:moveTo>
                    <a:pt x="2863596" y="0"/>
                  </a:moveTo>
                  <a:lnTo>
                    <a:pt x="269747" y="0"/>
                  </a:lnTo>
                  <a:lnTo>
                    <a:pt x="221262" y="4346"/>
                  </a:lnTo>
                  <a:lnTo>
                    <a:pt x="175626" y="16876"/>
                  </a:lnTo>
                  <a:lnTo>
                    <a:pt x="133603" y="36829"/>
                  </a:lnTo>
                  <a:lnTo>
                    <a:pt x="95955" y="63443"/>
                  </a:lnTo>
                  <a:lnTo>
                    <a:pt x="63443" y="95955"/>
                  </a:lnTo>
                  <a:lnTo>
                    <a:pt x="36829" y="133603"/>
                  </a:lnTo>
                  <a:lnTo>
                    <a:pt x="16876" y="175626"/>
                  </a:lnTo>
                  <a:lnTo>
                    <a:pt x="4346" y="221262"/>
                  </a:lnTo>
                  <a:lnTo>
                    <a:pt x="0" y="269748"/>
                  </a:lnTo>
                  <a:lnTo>
                    <a:pt x="0" y="1348739"/>
                  </a:lnTo>
                  <a:lnTo>
                    <a:pt x="4346" y="1397225"/>
                  </a:lnTo>
                  <a:lnTo>
                    <a:pt x="16876" y="1442861"/>
                  </a:lnTo>
                  <a:lnTo>
                    <a:pt x="36829" y="1484883"/>
                  </a:lnTo>
                  <a:lnTo>
                    <a:pt x="63443" y="1522532"/>
                  </a:lnTo>
                  <a:lnTo>
                    <a:pt x="95955" y="1555044"/>
                  </a:lnTo>
                  <a:lnTo>
                    <a:pt x="133603" y="1581657"/>
                  </a:lnTo>
                  <a:lnTo>
                    <a:pt x="175626" y="1601611"/>
                  </a:lnTo>
                  <a:lnTo>
                    <a:pt x="221262" y="1614141"/>
                  </a:lnTo>
                  <a:lnTo>
                    <a:pt x="269747" y="1618488"/>
                  </a:lnTo>
                  <a:lnTo>
                    <a:pt x="2863596" y="1618488"/>
                  </a:lnTo>
                  <a:lnTo>
                    <a:pt x="2912081" y="1614141"/>
                  </a:lnTo>
                  <a:lnTo>
                    <a:pt x="2957717" y="1601611"/>
                  </a:lnTo>
                  <a:lnTo>
                    <a:pt x="2999740" y="1581658"/>
                  </a:lnTo>
                  <a:lnTo>
                    <a:pt x="3037388" y="1555044"/>
                  </a:lnTo>
                  <a:lnTo>
                    <a:pt x="3069900" y="1522532"/>
                  </a:lnTo>
                  <a:lnTo>
                    <a:pt x="3096514" y="1484883"/>
                  </a:lnTo>
                  <a:lnTo>
                    <a:pt x="3116467" y="1442861"/>
                  </a:lnTo>
                  <a:lnTo>
                    <a:pt x="3128997" y="1397225"/>
                  </a:lnTo>
                  <a:lnTo>
                    <a:pt x="3133344" y="1348739"/>
                  </a:lnTo>
                  <a:lnTo>
                    <a:pt x="3133344" y="269748"/>
                  </a:lnTo>
                  <a:lnTo>
                    <a:pt x="3128997" y="221262"/>
                  </a:lnTo>
                  <a:lnTo>
                    <a:pt x="3116467" y="175626"/>
                  </a:lnTo>
                  <a:lnTo>
                    <a:pt x="3096514" y="133604"/>
                  </a:lnTo>
                  <a:lnTo>
                    <a:pt x="3069900" y="95955"/>
                  </a:lnTo>
                  <a:lnTo>
                    <a:pt x="3037388" y="63443"/>
                  </a:lnTo>
                  <a:lnTo>
                    <a:pt x="2999740" y="36830"/>
                  </a:lnTo>
                  <a:lnTo>
                    <a:pt x="2957717" y="16876"/>
                  </a:lnTo>
                  <a:lnTo>
                    <a:pt x="2912081" y="4346"/>
                  </a:lnTo>
                  <a:lnTo>
                    <a:pt x="286359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8" name="object 4">
              <a:extLst>
                <a:ext uri="{FF2B5EF4-FFF2-40B4-BE49-F238E27FC236}">
                  <a16:creationId xmlns:a16="http://schemas.microsoft.com/office/drawing/2014/main" id="{5F1F68AE-4851-D1D6-5681-BDA341D950CC}"/>
                </a:ext>
              </a:extLst>
            </p:cNvPr>
            <p:cNvSpPr/>
            <p:nvPr/>
          </p:nvSpPr>
          <p:spPr>
            <a:xfrm>
              <a:off x="548640" y="2310384"/>
              <a:ext cx="3133725" cy="1618615"/>
            </a:xfrm>
            <a:custGeom>
              <a:avLst/>
              <a:gdLst/>
              <a:ahLst/>
              <a:cxnLst/>
              <a:rect l="l" t="t" r="r" b="b"/>
              <a:pathLst>
                <a:path w="3133725" h="1618614">
                  <a:moveTo>
                    <a:pt x="0" y="269748"/>
                  </a:moveTo>
                  <a:lnTo>
                    <a:pt x="4346" y="221262"/>
                  </a:lnTo>
                  <a:lnTo>
                    <a:pt x="16876" y="175626"/>
                  </a:lnTo>
                  <a:lnTo>
                    <a:pt x="36829" y="133603"/>
                  </a:lnTo>
                  <a:lnTo>
                    <a:pt x="63443" y="95955"/>
                  </a:lnTo>
                  <a:lnTo>
                    <a:pt x="95955" y="63443"/>
                  </a:lnTo>
                  <a:lnTo>
                    <a:pt x="133603" y="36829"/>
                  </a:lnTo>
                  <a:lnTo>
                    <a:pt x="175626" y="16876"/>
                  </a:lnTo>
                  <a:lnTo>
                    <a:pt x="221262" y="4346"/>
                  </a:lnTo>
                  <a:lnTo>
                    <a:pt x="269747" y="0"/>
                  </a:lnTo>
                  <a:lnTo>
                    <a:pt x="2863596" y="0"/>
                  </a:lnTo>
                  <a:lnTo>
                    <a:pt x="2912081" y="4346"/>
                  </a:lnTo>
                  <a:lnTo>
                    <a:pt x="2957717" y="16876"/>
                  </a:lnTo>
                  <a:lnTo>
                    <a:pt x="2999740" y="36830"/>
                  </a:lnTo>
                  <a:lnTo>
                    <a:pt x="3037388" y="63443"/>
                  </a:lnTo>
                  <a:lnTo>
                    <a:pt x="3069900" y="95955"/>
                  </a:lnTo>
                  <a:lnTo>
                    <a:pt x="3096514" y="133604"/>
                  </a:lnTo>
                  <a:lnTo>
                    <a:pt x="3116467" y="175626"/>
                  </a:lnTo>
                  <a:lnTo>
                    <a:pt x="3128997" y="221262"/>
                  </a:lnTo>
                  <a:lnTo>
                    <a:pt x="3133344" y="269748"/>
                  </a:lnTo>
                  <a:lnTo>
                    <a:pt x="3133344" y="1348739"/>
                  </a:lnTo>
                  <a:lnTo>
                    <a:pt x="3128997" y="1397225"/>
                  </a:lnTo>
                  <a:lnTo>
                    <a:pt x="3116467" y="1442861"/>
                  </a:lnTo>
                  <a:lnTo>
                    <a:pt x="3096514" y="1484883"/>
                  </a:lnTo>
                  <a:lnTo>
                    <a:pt x="3069900" y="1522532"/>
                  </a:lnTo>
                  <a:lnTo>
                    <a:pt x="3037388" y="1555044"/>
                  </a:lnTo>
                  <a:lnTo>
                    <a:pt x="2999740" y="1581658"/>
                  </a:lnTo>
                  <a:lnTo>
                    <a:pt x="2957717" y="1601611"/>
                  </a:lnTo>
                  <a:lnTo>
                    <a:pt x="2912081" y="1614141"/>
                  </a:lnTo>
                  <a:lnTo>
                    <a:pt x="2863596" y="1618488"/>
                  </a:lnTo>
                  <a:lnTo>
                    <a:pt x="269747" y="1618488"/>
                  </a:lnTo>
                  <a:lnTo>
                    <a:pt x="221262" y="1614141"/>
                  </a:lnTo>
                  <a:lnTo>
                    <a:pt x="175626" y="1601611"/>
                  </a:lnTo>
                  <a:lnTo>
                    <a:pt x="133603" y="1581657"/>
                  </a:lnTo>
                  <a:lnTo>
                    <a:pt x="95955" y="1555044"/>
                  </a:lnTo>
                  <a:lnTo>
                    <a:pt x="63443" y="1522532"/>
                  </a:lnTo>
                  <a:lnTo>
                    <a:pt x="36829" y="1484883"/>
                  </a:lnTo>
                  <a:lnTo>
                    <a:pt x="16876" y="1442861"/>
                  </a:lnTo>
                  <a:lnTo>
                    <a:pt x="4346" y="1397225"/>
                  </a:lnTo>
                  <a:lnTo>
                    <a:pt x="0" y="1348739"/>
                  </a:lnTo>
                  <a:lnTo>
                    <a:pt x="0" y="269748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1" name="object 5">
            <a:extLst>
              <a:ext uri="{FF2B5EF4-FFF2-40B4-BE49-F238E27FC236}">
                <a16:creationId xmlns:a16="http://schemas.microsoft.com/office/drawing/2014/main" id="{B63A00C1-F976-A6AB-EA50-9A849D8E8D1F}"/>
              </a:ext>
            </a:extLst>
          </p:cNvPr>
          <p:cNvSpPr txBox="1"/>
          <p:nvPr/>
        </p:nvSpPr>
        <p:spPr>
          <a:xfrm>
            <a:off x="1464755" y="3029887"/>
            <a:ext cx="280466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80" algn="ctr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+mj-lt"/>
                <a:cs typeface="Calibri"/>
              </a:rPr>
              <a:t>Sistema</a:t>
            </a:r>
            <a:r>
              <a:rPr sz="2400" spc="25" dirty="0">
                <a:latin typeface="+mj-lt"/>
                <a:cs typeface="Calibri"/>
              </a:rPr>
              <a:t> </a:t>
            </a:r>
            <a:r>
              <a:rPr sz="2400" spc="-5" dirty="0">
                <a:latin typeface="+mj-lt"/>
                <a:cs typeface="Calibri"/>
              </a:rPr>
              <a:t>de </a:t>
            </a:r>
            <a:r>
              <a:rPr lang="pt-BR" sz="2400" spc="-15" dirty="0">
                <a:latin typeface="+mj-lt"/>
                <a:cs typeface="Calibri"/>
              </a:rPr>
              <a:t>C</a:t>
            </a:r>
            <a:r>
              <a:rPr sz="2400" spc="-15" dirty="0">
                <a:latin typeface="+mj-lt"/>
                <a:cs typeface="Calibri"/>
              </a:rPr>
              <a:t>us</a:t>
            </a:r>
            <a:r>
              <a:rPr lang="pt-BR" sz="2400" spc="-15" dirty="0" err="1">
                <a:latin typeface="+mj-lt"/>
                <a:cs typeface="Calibri"/>
              </a:rPr>
              <a:t>teio</a:t>
            </a:r>
            <a:r>
              <a:rPr sz="2400" spc="-5" dirty="0">
                <a:latin typeface="+mj-lt"/>
                <a:cs typeface="Calibri"/>
              </a:rPr>
              <a:t> no</a:t>
            </a:r>
            <a:endParaRPr sz="2400" dirty="0">
              <a:latin typeface="+mj-lt"/>
              <a:cs typeface="Calibri"/>
            </a:endParaRPr>
          </a:p>
          <a:p>
            <a:pPr marL="12700" algn="ctr">
              <a:lnSpc>
                <a:spcPct val="100000"/>
              </a:lnSpc>
            </a:pPr>
            <a:r>
              <a:rPr sz="2400" spc="-15" dirty="0">
                <a:latin typeface="+mj-lt"/>
                <a:cs typeface="Calibri"/>
              </a:rPr>
              <a:t>segmento</a:t>
            </a:r>
            <a:r>
              <a:rPr sz="2400" spc="20" dirty="0">
                <a:latin typeface="+mj-lt"/>
                <a:cs typeface="Calibri"/>
              </a:rPr>
              <a:t> </a:t>
            </a:r>
            <a:r>
              <a:rPr sz="2400" spc="-10" dirty="0">
                <a:latin typeface="+mj-lt"/>
                <a:cs typeface="Calibri"/>
              </a:rPr>
              <a:t>de</a:t>
            </a:r>
            <a:r>
              <a:rPr sz="2400" spc="5" dirty="0">
                <a:latin typeface="+mj-lt"/>
                <a:cs typeface="Calibri"/>
              </a:rPr>
              <a:t> </a:t>
            </a:r>
            <a:r>
              <a:rPr sz="2400" spc="-15" dirty="0">
                <a:latin typeface="+mj-lt"/>
                <a:cs typeface="Calibri"/>
              </a:rPr>
              <a:t>estética</a:t>
            </a:r>
            <a:endParaRPr sz="2400" dirty="0">
              <a:latin typeface="+mj-lt"/>
              <a:cs typeface="Calibri"/>
            </a:endParaRPr>
          </a:p>
        </p:txBody>
      </p:sp>
      <p:grpSp>
        <p:nvGrpSpPr>
          <p:cNvPr id="12" name="object 7">
            <a:extLst>
              <a:ext uri="{FF2B5EF4-FFF2-40B4-BE49-F238E27FC236}">
                <a16:creationId xmlns:a16="http://schemas.microsoft.com/office/drawing/2014/main" id="{964CF71D-C32E-9A34-809A-CAE900A6C2D6}"/>
              </a:ext>
            </a:extLst>
          </p:cNvPr>
          <p:cNvGrpSpPr/>
          <p:nvPr/>
        </p:nvGrpSpPr>
        <p:grpSpPr>
          <a:xfrm>
            <a:off x="7334948" y="1685353"/>
            <a:ext cx="3511550" cy="683260"/>
            <a:chOff x="6537960" y="1377695"/>
            <a:chExt cx="3511550" cy="683260"/>
          </a:xfrm>
        </p:grpSpPr>
        <p:sp>
          <p:nvSpPr>
            <p:cNvPr id="35" name="object 8">
              <a:extLst>
                <a:ext uri="{FF2B5EF4-FFF2-40B4-BE49-F238E27FC236}">
                  <a16:creationId xmlns:a16="http://schemas.microsoft.com/office/drawing/2014/main" id="{9A3CC870-2E7A-6CD9-8BE2-E69AC6451BAA}"/>
                </a:ext>
              </a:extLst>
            </p:cNvPr>
            <p:cNvSpPr/>
            <p:nvPr/>
          </p:nvSpPr>
          <p:spPr>
            <a:xfrm>
              <a:off x="6537960" y="1377695"/>
              <a:ext cx="3511550" cy="683260"/>
            </a:xfrm>
            <a:custGeom>
              <a:avLst/>
              <a:gdLst/>
              <a:ahLst/>
              <a:cxnLst/>
              <a:rect l="l" t="t" r="r" b="b"/>
              <a:pathLst>
                <a:path w="3511550" h="683260">
                  <a:moveTo>
                    <a:pt x="3397504" y="0"/>
                  </a:moveTo>
                  <a:lnTo>
                    <a:pt x="113792" y="0"/>
                  </a:lnTo>
                  <a:lnTo>
                    <a:pt x="69490" y="8939"/>
                  </a:lnTo>
                  <a:lnTo>
                    <a:pt x="33321" y="33321"/>
                  </a:lnTo>
                  <a:lnTo>
                    <a:pt x="8939" y="69490"/>
                  </a:lnTo>
                  <a:lnTo>
                    <a:pt x="0" y="113791"/>
                  </a:lnTo>
                  <a:lnTo>
                    <a:pt x="0" y="568959"/>
                  </a:lnTo>
                  <a:lnTo>
                    <a:pt x="8939" y="613261"/>
                  </a:lnTo>
                  <a:lnTo>
                    <a:pt x="33321" y="649430"/>
                  </a:lnTo>
                  <a:lnTo>
                    <a:pt x="69490" y="673812"/>
                  </a:lnTo>
                  <a:lnTo>
                    <a:pt x="113792" y="682751"/>
                  </a:lnTo>
                  <a:lnTo>
                    <a:pt x="3397504" y="682751"/>
                  </a:lnTo>
                  <a:lnTo>
                    <a:pt x="3441805" y="673812"/>
                  </a:lnTo>
                  <a:lnTo>
                    <a:pt x="3477974" y="649430"/>
                  </a:lnTo>
                  <a:lnTo>
                    <a:pt x="3502356" y="613261"/>
                  </a:lnTo>
                  <a:lnTo>
                    <a:pt x="3511296" y="568959"/>
                  </a:lnTo>
                  <a:lnTo>
                    <a:pt x="3511296" y="113791"/>
                  </a:lnTo>
                  <a:lnTo>
                    <a:pt x="3502356" y="69490"/>
                  </a:lnTo>
                  <a:lnTo>
                    <a:pt x="3477974" y="33321"/>
                  </a:lnTo>
                  <a:lnTo>
                    <a:pt x="3441805" y="8939"/>
                  </a:lnTo>
                  <a:lnTo>
                    <a:pt x="3397504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C6B33034-1D0A-56B3-3249-551A0DDB06AC}"/>
                </a:ext>
              </a:extLst>
            </p:cNvPr>
            <p:cNvSpPr/>
            <p:nvPr/>
          </p:nvSpPr>
          <p:spPr>
            <a:xfrm>
              <a:off x="6537960" y="1377695"/>
              <a:ext cx="3511550" cy="683260"/>
            </a:xfrm>
            <a:custGeom>
              <a:avLst/>
              <a:gdLst/>
              <a:ahLst/>
              <a:cxnLst/>
              <a:rect l="l" t="t" r="r" b="b"/>
              <a:pathLst>
                <a:path w="3511550" h="683260">
                  <a:moveTo>
                    <a:pt x="0" y="113791"/>
                  </a:moveTo>
                  <a:lnTo>
                    <a:pt x="8939" y="69490"/>
                  </a:lnTo>
                  <a:lnTo>
                    <a:pt x="33321" y="33321"/>
                  </a:lnTo>
                  <a:lnTo>
                    <a:pt x="69490" y="8939"/>
                  </a:lnTo>
                  <a:lnTo>
                    <a:pt x="113792" y="0"/>
                  </a:lnTo>
                  <a:lnTo>
                    <a:pt x="3397504" y="0"/>
                  </a:lnTo>
                  <a:lnTo>
                    <a:pt x="3441805" y="8939"/>
                  </a:lnTo>
                  <a:lnTo>
                    <a:pt x="3477974" y="33321"/>
                  </a:lnTo>
                  <a:lnTo>
                    <a:pt x="3502356" y="69490"/>
                  </a:lnTo>
                  <a:lnTo>
                    <a:pt x="3511296" y="113791"/>
                  </a:lnTo>
                  <a:lnTo>
                    <a:pt x="3511296" y="568959"/>
                  </a:lnTo>
                  <a:lnTo>
                    <a:pt x="3502356" y="613261"/>
                  </a:lnTo>
                  <a:lnTo>
                    <a:pt x="3477974" y="649430"/>
                  </a:lnTo>
                  <a:lnTo>
                    <a:pt x="3441805" y="673812"/>
                  </a:lnTo>
                  <a:lnTo>
                    <a:pt x="3397504" y="682751"/>
                  </a:lnTo>
                  <a:lnTo>
                    <a:pt x="113792" y="682751"/>
                  </a:lnTo>
                  <a:lnTo>
                    <a:pt x="69490" y="673812"/>
                  </a:lnTo>
                  <a:lnTo>
                    <a:pt x="33321" y="649430"/>
                  </a:lnTo>
                  <a:lnTo>
                    <a:pt x="8939" y="613261"/>
                  </a:lnTo>
                  <a:lnTo>
                    <a:pt x="0" y="568959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7" name="object 10">
            <a:extLst>
              <a:ext uri="{FF2B5EF4-FFF2-40B4-BE49-F238E27FC236}">
                <a16:creationId xmlns:a16="http://schemas.microsoft.com/office/drawing/2014/main" id="{EF08DD73-946D-E99B-E549-9BFE25380E82}"/>
              </a:ext>
            </a:extLst>
          </p:cNvPr>
          <p:cNvGrpSpPr/>
          <p:nvPr/>
        </p:nvGrpSpPr>
        <p:grpSpPr>
          <a:xfrm>
            <a:off x="7334948" y="2618042"/>
            <a:ext cx="3511550" cy="685800"/>
            <a:chOff x="6537960" y="2310384"/>
            <a:chExt cx="3511550" cy="685800"/>
          </a:xfrm>
        </p:grpSpPr>
        <p:sp>
          <p:nvSpPr>
            <p:cNvPr id="31" name="object 11">
              <a:extLst>
                <a:ext uri="{FF2B5EF4-FFF2-40B4-BE49-F238E27FC236}">
                  <a16:creationId xmlns:a16="http://schemas.microsoft.com/office/drawing/2014/main" id="{5E28F949-1C8E-5837-2D49-9DBCAC34DDF7}"/>
                </a:ext>
              </a:extLst>
            </p:cNvPr>
            <p:cNvSpPr/>
            <p:nvPr/>
          </p:nvSpPr>
          <p:spPr>
            <a:xfrm>
              <a:off x="6537960" y="2310384"/>
              <a:ext cx="3511550" cy="685800"/>
            </a:xfrm>
            <a:custGeom>
              <a:avLst/>
              <a:gdLst/>
              <a:ahLst/>
              <a:cxnLst/>
              <a:rect l="l" t="t" r="r" b="b"/>
              <a:pathLst>
                <a:path w="3511550" h="685800">
                  <a:moveTo>
                    <a:pt x="3396996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3396996" y="685800"/>
                  </a:lnTo>
                  <a:lnTo>
                    <a:pt x="3441483" y="676816"/>
                  </a:lnTo>
                  <a:lnTo>
                    <a:pt x="3477815" y="652319"/>
                  </a:lnTo>
                  <a:lnTo>
                    <a:pt x="3502312" y="615987"/>
                  </a:lnTo>
                  <a:lnTo>
                    <a:pt x="3511296" y="571500"/>
                  </a:lnTo>
                  <a:lnTo>
                    <a:pt x="3511296" y="114300"/>
                  </a:lnTo>
                  <a:lnTo>
                    <a:pt x="3502312" y="69812"/>
                  </a:lnTo>
                  <a:lnTo>
                    <a:pt x="3477815" y="33480"/>
                  </a:lnTo>
                  <a:lnTo>
                    <a:pt x="3441483" y="8983"/>
                  </a:lnTo>
                  <a:lnTo>
                    <a:pt x="3396996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2" name="object 12">
              <a:extLst>
                <a:ext uri="{FF2B5EF4-FFF2-40B4-BE49-F238E27FC236}">
                  <a16:creationId xmlns:a16="http://schemas.microsoft.com/office/drawing/2014/main" id="{327FA846-439B-34E8-1DB9-3CC45762DB30}"/>
                </a:ext>
              </a:extLst>
            </p:cNvPr>
            <p:cNvSpPr/>
            <p:nvPr/>
          </p:nvSpPr>
          <p:spPr>
            <a:xfrm>
              <a:off x="6537960" y="2310384"/>
              <a:ext cx="3511550" cy="685800"/>
            </a:xfrm>
            <a:custGeom>
              <a:avLst/>
              <a:gdLst/>
              <a:ahLst/>
              <a:cxnLst/>
              <a:rect l="l" t="t" r="r" b="b"/>
              <a:pathLst>
                <a:path w="3511550" h="6858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3396996" y="0"/>
                  </a:lnTo>
                  <a:lnTo>
                    <a:pt x="3441483" y="8983"/>
                  </a:lnTo>
                  <a:lnTo>
                    <a:pt x="3477815" y="33480"/>
                  </a:lnTo>
                  <a:lnTo>
                    <a:pt x="3502312" y="69812"/>
                  </a:lnTo>
                  <a:lnTo>
                    <a:pt x="3511296" y="114300"/>
                  </a:lnTo>
                  <a:lnTo>
                    <a:pt x="3511296" y="571500"/>
                  </a:lnTo>
                  <a:lnTo>
                    <a:pt x="3502312" y="615987"/>
                  </a:lnTo>
                  <a:lnTo>
                    <a:pt x="3477815" y="652319"/>
                  </a:lnTo>
                  <a:lnTo>
                    <a:pt x="3441483" y="676816"/>
                  </a:lnTo>
                  <a:lnTo>
                    <a:pt x="3396996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8" name="object 13">
            <a:extLst>
              <a:ext uri="{FF2B5EF4-FFF2-40B4-BE49-F238E27FC236}">
                <a16:creationId xmlns:a16="http://schemas.microsoft.com/office/drawing/2014/main" id="{FE9B9E4B-881F-2EFC-798A-5A0A34353870}"/>
              </a:ext>
            </a:extLst>
          </p:cNvPr>
          <p:cNvSpPr txBox="1"/>
          <p:nvPr/>
        </p:nvSpPr>
        <p:spPr>
          <a:xfrm>
            <a:off x="7690802" y="1861629"/>
            <a:ext cx="280225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+mj-lt"/>
                <a:cs typeface="Calibri"/>
              </a:rPr>
              <a:t>Ideia</a:t>
            </a:r>
            <a:r>
              <a:rPr sz="1800" spc="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+mj-lt"/>
                <a:cs typeface="Calibri"/>
              </a:rPr>
              <a:t>do</a:t>
            </a:r>
            <a:r>
              <a:rPr sz="1800" spc="1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+mj-lt"/>
                <a:cs typeface="Calibri"/>
              </a:rPr>
              <a:t>custo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+mj-lt"/>
                <a:cs typeface="Calibri"/>
              </a:rPr>
              <a:t>de</a:t>
            </a:r>
            <a:r>
              <a:rPr sz="1800" spc="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cada</a:t>
            </a:r>
            <a:r>
              <a:rPr sz="1800" spc="-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+mj-lt"/>
                <a:cs typeface="Calibri"/>
              </a:rPr>
              <a:t>serviço</a:t>
            </a:r>
            <a:endParaRPr sz="1800" dirty="0">
              <a:latin typeface="+mj-lt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 dirty="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Saber</a:t>
            </a:r>
            <a:r>
              <a:rPr sz="1800" spc="2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seus</a:t>
            </a:r>
            <a:r>
              <a:rPr sz="1800" spc="-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limites</a:t>
            </a:r>
            <a:endParaRPr sz="1800" dirty="0">
              <a:latin typeface="+mj-lt"/>
              <a:cs typeface="Calibri"/>
            </a:endParaRPr>
          </a:p>
        </p:txBody>
      </p:sp>
      <p:grpSp>
        <p:nvGrpSpPr>
          <p:cNvPr id="19" name="object 14">
            <a:extLst>
              <a:ext uri="{FF2B5EF4-FFF2-40B4-BE49-F238E27FC236}">
                <a16:creationId xmlns:a16="http://schemas.microsoft.com/office/drawing/2014/main" id="{2948DBF2-DD47-D839-9C4B-4DE09CEDF9D8}"/>
              </a:ext>
            </a:extLst>
          </p:cNvPr>
          <p:cNvGrpSpPr/>
          <p:nvPr/>
        </p:nvGrpSpPr>
        <p:grpSpPr>
          <a:xfrm>
            <a:off x="7334948" y="3553777"/>
            <a:ext cx="3511550" cy="683260"/>
            <a:chOff x="6537960" y="3246119"/>
            <a:chExt cx="3511550" cy="683260"/>
          </a:xfrm>
        </p:grpSpPr>
        <p:sp>
          <p:nvSpPr>
            <p:cNvPr id="29" name="object 15">
              <a:extLst>
                <a:ext uri="{FF2B5EF4-FFF2-40B4-BE49-F238E27FC236}">
                  <a16:creationId xmlns:a16="http://schemas.microsoft.com/office/drawing/2014/main" id="{01E79072-C6C8-797D-0F5D-F8F759C3F064}"/>
                </a:ext>
              </a:extLst>
            </p:cNvPr>
            <p:cNvSpPr/>
            <p:nvPr/>
          </p:nvSpPr>
          <p:spPr>
            <a:xfrm>
              <a:off x="6537960" y="3246119"/>
              <a:ext cx="3511550" cy="683260"/>
            </a:xfrm>
            <a:custGeom>
              <a:avLst/>
              <a:gdLst/>
              <a:ahLst/>
              <a:cxnLst/>
              <a:rect l="l" t="t" r="r" b="b"/>
              <a:pathLst>
                <a:path w="3511550" h="683260">
                  <a:moveTo>
                    <a:pt x="3397504" y="0"/>
                  </a:moveTo>
                  <a:lnTo>
                    <a:pt x="113792" y="0"/>
                  </a:lnTo>
                  <a:lnTo>
                    <a:pt x="69490" y="8939"/>
                  </a:lnTo>
                  <a:lnTo>
                    <a:pt x="33321" y="33321"/>
                  </a:lnTo>
                  <a:lnTo>
                    <a:pt x="8939" y="69490"/>
                  </a:lnTo>
                  <a:lnTo>
                    <a:pt x="0" y="113791"/>
                  </a:lnTo>
                  <a:lnTo>
                    <a:pt x="0" y="568959"/>
                  </a:lnTo>
                  <a:lnTo>
                    <a:pt x="8939" y="613261"/>
                  </a:lnTo>
                  <a:lnTo>
                    <a:pt x="33321" y="649430"/>
                  </a:lnTo>
                  <a:lnTo>
                    <a:pt x="69490" y="673812"/>
                  </a:lnTo>
                  <a:lnTo>
                    <a:pt x="113792" y="682751"/>
                  </a:lnTo>
                  <a:lnTo>
                    <a:pt x="3397504" y="682751"/>
                  </a:lnTo>
                  <a:lnTo>
                    <a:pt x="3441805" y="673812"/>
                  </a:lnTo>
                  <a:lnTo>
                    <a:pt x="3477974" y="649430"/>
                  </a:lnTo>
                  <a:lnTo>
                    <a:pt x="3502356" y="613261"/>
                  </a:lnTo>
                  <a:lnTo>
                    <a:pt x="3511296" y="568959"/>
                  </a:lnTo>
                  <a:lnTo>
                    <a:pt x="3511296" y="113791"/>
                  </a:lnTo>
                  <a:lnTo>
                    <a:pt x="3502356" y="69490"/>
                  </a:lnTo>
                  <a:lnTo>
                    <a:pt x="3477974" y="33321"/>
                  </a:lnTo>
                  <a:lnTo>
                    <a:pt x="3441805" y="8939"/>
                  </a:lnTo>
                  <a:lnTo>
                    <a:pt x="3397504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0" name="object 16">
              <a:extLst>
                <a:ext uri="{FF2B5EF4-FFF2-40B4-BE49-F238E27FC236}">
                  <a16:creationId xmlns:a16="http://schemas.microsoft.com/office/drawing/2014/main" id="{551318B8-D8EC-CCB1-2969-983C1E2E47DE}"/>
                </a:ext>
              </a:extLst>
            </p:cNvPr>
            <p:cNvSpPr/>
            <p:nvPr/>
          </p:nvSpPr>
          <p:spPr>
            <a:xfrm>
              <a:off x="6537960" y="3246119"/>
              <a:ext cx="3511550" cy="683260"/>
            </a:xfrm>
            <a:custGeom>
              <a:avLst/>
              <a:gdLst/>
              <a:ahLst/>
              <a:cxnLst/>
              <a:rect l="l" t="t" r="r" b="b"/>
              <a:pathLst>
                <a:path w="3511550" h="683260">
                  <a:moveTo>
                    <a:pt x="0" y="113791"/>
                  </a:moveTo>
                  <a:lnTo>
                    <a:pt x="8939" y="69490"/>
                  </a:lnTo>
                  <a:lnTo>
                    <a:pt x="33321" y="33321"/>
                  </a:lnTo>
                  <a:lnTo>
                    <a:pt x="69490" y="8939"/>
                  </a:lnTo>
                  <a:lnTo>
                    <a:pt x="113792" y="0"/>
                  </a:lnTo>
                  <a:lnTo>
                    <a:pt x="3397504" y="0"/>
                  </a:lnTo>
                  <a:lnTo>
                    <a:pt x="3441805" y="8939"/>
                  </a:lnTo>
                  <a:lnTo>
                    <a:pt x="3477974" y="33321"/>
                  </a:lnTo>
                  <a:lnTo>
                    <a:pt x="3502356" y="69490"/>
                  </a:lnTo>
                  <a:lnTo>
                    <a:pt x="3511296" y="113791"/>
                  </a:lnTo>
                  <a:lnTo>
                    <a:pt x="3511296" y="568959"/>
                  </a:lnTo>
                  <a:lnTo>
                    <a:pt x="3502356" y="613261"/>
                  </a:lnTo>
                  <a:lnTo>
                    <a:pt x="3477974" y="649430"/>
                  </a:lnTo>
                  <a:lnTo>
                    <a:pt x="3441805" y="673812"/>
                  </a:lnTo>
                  <a:lnTo>
                    <a:pt x="3397504" y="682751"/>
                  </a:lnTo>
                  <a:lnTo>
                    <a:pt x="113792" y="682751"/>
                  </a:lnTo>
                  <a:lnTo>
                    <a:pt x="69490" y="673812"/>
                  </a:lnTo>
                  <a:lnTo>
                    <a:pt x="33321" y="649430"/>
                  </a:lnTo>
                  <a:lnTo>
                    <a:pt x="8939" y="613261"/>
                  </a:lnTo>
                  <a:lnTo>
                    <a:pt x="0" y="568959"/>
                  </a:lnTo>
                  <a:lnTo>
                    <a:pt x="0" y="11379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1" name="object 17">
            <a:extLst>
              <a:ext uri="{FF2B5EF4-FFF2-40B4-BE49-F238E27FC236}">
                <a16:creationId xmlns:a16="http://schemas.microsoft.com/office/drawing/2014/main" id="{FEB7E3A6-D6FD-8B92-1165-693352A9C0A8}"/>
              </a:ext>
            </a:extLst>
          </p:cNvPr>
          <p:cNvGrpSpPr/>
          <p:nvPr/>
        </p:nvGrpSpPr>
        <p:grpSpPr>
          <a:xfrm>
            <a:off x="7334948" y="4489513"/>
            <a:ext cx="3511550" cy="683260"/>
            <a:chOff x="6537960" y="4181855"/>
            <a:chExt cx="3511550" cy="683260"/>
          </a:xfrm>
        </p:grpSpPr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B818FAEF-DE5C-2AB5-82FC-691005ABA4BC}"/>
                </a:ext>
              </a:extLst>
            </p:cNvPr>
            <p:cNvSpPr/>
            <p:nvPr/>
          </p:nvSpPr>
          <p:spPr>
            <a:xfrm>
              <a:off x="6537960" y="4181855"/>
              <a:ext cx="3511550" cy="683260"/>
            </a:xfrm>
            <a:custGeom>
              <a:avLst/>
              <a:gdLst/>
              <a:ahLst/>
              <a:cxnLst/>
              <a:rect l="l" t="t" r="r" b="b"/>
              <a:pathLst>
                <a:path w="3511550" h="683260">
                  <a:moveTo>
                    <a:pt x="3397504" y="0"/>
                  </a:moveTo>
                  <a:lnTo>
                    <a:pt x="113792" y="0"/>
                  </a:lnTo>
                  <a:lnTo>
                    <a:pt x="69490" y="8939"/>
                  </a:lnTo>
                  <a:lnTo>
                    <a:pt x="33321" y="33321"/>
                  </a:lnTo>
                  <a:lnTo>
                    <a:pt x="8939" y="69490"/>
                  </a:lnTo>
                  <a:lnTo>
                    <a:pt x="0" y="113792"/>
                  </a:lnTo>
                  <a:lnTo>
                    <a:pt x="0" y="568960"/>
                  </a:lnTo>
                  <a:lnTo>
                    <a:pt x="8939" y="613261"/>
                  </a:lnTo>
                  <a:lnTo>
                    <a:pt x="33321" y="649430"/>
                  </a:lnTo>
                  <a:lnTo>
                    <a:pt x="69490" y="673812"/>
                  </a:lnTo>
                  <a:lnTo>
                    <a:pt x="113792" y="682752"/>
                  </a:lnTo>
                  <a:lnTo>
                    <a:pt x="3397504" y="682752"/>
                  </a:lnTo>
                  <a:lnTo>
                    <a:pt x="3441805" y="673812"/>
                  </a:lnTo>
                  <a:lnTo>
                    <a:pt x="3477974" y="649430"/>
                  </a:lnTo>
                  <a:lnTo>
                    <a:pt x="3502356" y="613261"/>
                  </a:lnTo>
                  <a:lnTo>
                    <a:pt x="3511296" y="568960"/>
                  </a:lnTo>
                  <a:lnTo>
                    <a:pt x="3511296" y="113792"/>
                  </a:lnTo>
                  <a:lnTo>
                    <a:pt x="3502356" y="69490"/>
                  </a:lnTo>
                  <a:lnTo>
                    <a:pt x="3477974" y="33321"/>
                  </a:lnTo>
                  <a:lnTo>
                    <a:pt x="3441805" y="8939"/>
                  </a:lnTo>
                  <a:lnTo>
                    <a:pt x="3397504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8" name="object 19">
              <a:extLst>
                <a:ext uri="{FF2B5EF4-FFF2-40B4-BE49-F238E27FC236}">
                  <a16:creationId xmlns:a16="http://schemas.microsoft.com/office/drawing/2014/main" id="{96771BC3-FCB3-E0A0-2EFA-8B411FB9AF65}"/>
                </a:ext>
              </a:extLst>
            </p:cNvPr>
            <p:cNvSpPr/>
            <p:nvPr/>
          </p:nvSpPr>
          <p:spPr>
            <a:xfrm>
              <a:off x="6537960" y="4181855"/>
              <a:ext cx="3511550" cy="683260"/>
            </a:xfrm>
            <a:custGeom>
              <a:avLst/>
              <a:gdLst/>
              <a:ahLst/>
              <a:cxnLst/>
              <a:rect l="l" t="t" r="r" b="b"/>
              <a:pathLst>
                <a:path w="3511550" h="683260">
                  <a:moveTo>
                    <a:pt x="0" y="113792"/>
                  </a:moveTo>
                  <a:lnTo>
                    <a:pt x="8939" y="69490"/>
                  </a:lnTo>
                  <a:lnTo>
                    <a:pt x="33321" y="33321"/>
                  </a:lnTo>
                  <a:lnTo>
                    <a:pt x="69490" y="8939"/>
                  </a:lnTo>
                  <a:lnTo>
                    <a:pt x="113792" y="0"/>
                  </a:lnTo>
                  <a:lnTo>
                    <a:pt x="3397504" y="0"/>
                  </a:lnTo>
                  <a:lnTo>
                    <a:pt x="3441805" y="8939"/>
                  </a:lnTo>
                  <a:lnTo>
                    <a:pt x="3477974" y="33321"/>
                  </a:lnTo>
                  <a:lnTo>
                    <a:pt x="3502356" y="69490"/>
                  </a:lnTo>
                  <a:lnTo>
                    <a:pt x="3511296" y="113792"/>
                  </a:lnTo>
                  <a:lnTo>
                    <a:pt x="3511296" y="568960"/>
                  </a:lnTo>
                  <a:lnTo>
                    <a:pt x="3502356" y="613261"/>
                  </a:lnTo>
                  <a:lnTo>
                    <a:pt x="3477974" y="649430"/>
                  </a:lnTo>
                  <a:lnTo>
                    <a:pt x="3441805" y="673812"/>
                  </a:lnTo>
                  <a:lnTo>
                    <a:pt x="3397504" y="682752"/>
                  </a:lnTo>
                  <a:lnTo>
                    <a:pt x="113792" y="682752"/>
                  </a:lnTo>
                  <a:lnTo>
                    <a:pt x="69490" y="673812"/>
                  </a:lnTo>
                  <a:lnTo>
                    <a:pt x="33321" y="649430"/>
                  </a:lnTo>
                  <a:lnTo>
                    <a:pt x="8939" y="613261"/>
                  </a:lnTo>
                  <a:lnTo>
                    <a:pt x="0" y="568960"/>
                  </a:lnTo>
                  <a:lnTo>
                    <a:pt x="0" y="11379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2" name="object 20">
            <a:extLst>
              <a:ext uri="{FF2B5EF4-FFF2-40B4-BE49-F238E27FC236}">
                <a16:creationId xmlns:a16="http://schemas.microsoft.com/office/drawing/2014/main" id="{2F145BE5-2A8E-7697-8FB1-6D899BB21814}"/>
              </a:ext>
            </a:extLst>
          </p:cNvPr>
          <p:cNvSpPr txBox="1"/>
          <p:nvPr/>
        </p:nvSpPr>
        <p:spPr>
          <a:xfrm>
            <a:off x="7462202" y="3732466"/>
            <a:ext cx="326199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+mj-lt"/>
                <a:cs typeface="Calibri"/>
              </a:rPr>
              <a:t>Encontrar</a:t>
            </a:r>
            <a:r>
              <a:rPr sz="1800" spc="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e</a:t>
            </a:r>
            <a:r>
              <a:rPr sz="1800" spc="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+mj-lt"/>
                <a:cs typeface="Calibri"/>
              </a:rPr>
              <a:t>otimizar</a:t>
            </a:r>
            <a:r>
              <a:rPr sz="1800" spc="-3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+mj-lt"/>
                <a:cs typeface="Calibri"/>
              </a:rPr>
              <a:t>as </a:t>
            </a:r>
            <a:r>
              <a:rPr sz="1800" spc="-10" dirty="0">
                <a:solidFill>
                  <a:srgbClr val="FFFFFF"/>
                </a:solidFill>
                <a:latin typeface="+mj-lt"/>
                <a:cs typeface="Calibri"/>
              </a:rPr>
              <a:t>perdas</a:t>
            </a:r>
            <a:endParaRPr sz="1800" dirty="0">
              <a:latin typeface="+mj-lt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pt-BR" sz="1800" spc="-15" dirty="0">
                <a:solidFill>
                  <a:srgbClr val="FFFFFF"/>
                </a:solidFill>
                <a:latin typeface="+mj-lt"/>
                <a:cs typeface="Calibri"/>
              </a:rPr>
              <a:t>Investir</a:t>
            </a:r>
            <a:r>
              <a:rPr lang="pt-BR" sz="180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lang="pt-BR" sz="1800" spc="-5" dirty="0">
                <a:solidFill>
                  <a:srgbClr val="FFFFFF"/>
                </a:solidFill>
                <a:latin typeface="+mj-lt"/>
                <a:cs typeface="Calibri"/>
              </a:rPr>
              <a:t>em</a:t>
            </a:r>
            <a:r>
              <a:rPr lang="pt-BR" sz="1800" spc="1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lang="pt-BR" sz="1800" spc="-5" dirty="0">
                <a:solidFill>
                  <a:srgbClr val="FFFFFF"/>
                </a:solidFill>
                <a:latin typeface="+mj-lt"/>
                <a:cs typeface="Calibri"/>
              </a:rPr>
              <a:t>serviços</a:t>
            </a:r>
            <a:r>
              <a:rPr lang="pt-BR" sz="1800" dirty="0">
                <a:solidFill>
                  <a:srgbClr val="FFFFFF"/>
                </a:solidFill>
                <a:latin typeface="+mj-lt"/>
                <a:cs typeface="Calibri"/>
              </a:rPr>
              <a:t> mais</a:t>
            </a:r>
            <a:r>
              <a:rPr lang="pt-BR" sz="1800" spc="-30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lang="pt-BR" sz="1800" spc="-20" dirty="0">
                <a:solidFill>
                  <a:srgbClr val="FFFFFF"/>
                </a:solidFill>
                <a:latin typeface="+mj-lt"/>
                <a:cs typeface="Calibri"/>
              </a:rPr>
              <a:t>atraentes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8FF40FBF-C17F-77FA-0567-374B88B5F4C1}"/>
              </a:ext>
            </a:extLst>
          </p:cNvPr>
          <p:cNvSpPr/>
          <p:nvPr/>
        </p:nvSpPr>
        <p:spPr>
          <a:xfrm>
            <a:off x="4729799" y="2209609"/>
            <a:ext cx="2378961" cy="2392045"/>
          </a:xfrm>
          <a:custGeom>
            <a:avLst/>
            <a:gdLst/>
            <a:ahLst/>
            <a:cxnLst/>
            <a:rect l="l" t="t" r="r" b="b"/>
            <a:pathLst>
              <a:path w="1416050" h="2392045">
                <a:moveTo>
                  <a:pt x="1415796" y="0"/>
                </a:moveTo>
                <a:lnTo>
                  <a:pt x="1333119" y="20447"/>
                </a:lnTo>
                <a:lnTo>
                  <a:pt x="1353718" y="44665"/>
                </a:lnTo>
                <a:lnTo>
                  <a:pt x="3048" y="1197864"/>
                </a:lnTo>
                <a:lnTo>
                  <a:pt x="6743" y="1202270"/>
                </a:lnTo>
                <a:lnTo>
                  <a:pt x="8636" y="1209802"/>
                </a:lnTo>
                <a:lnTo>
                  <a:pt x="1343583" y="866381"/>
                </a:lnTo>
                <a:lnTo>
                  <a:pt x="1351534" y="897128"/>
                </a:lnTo>
                <a:lnTo>
                  <a:pt x="1404696" y="850900"/>
                </a:lnTo>
                <a:lnTo>
                  <a:pt x="1415796" y="841248"/>
                </a:lnTo>
                <a:lnTo>
                  <a:pt x="1332484" y="823341"/>
                </a:lnTo>
                <a:lnTo>
                  <a:pt x="1340408" y="854062"/>
                </a:lnTo>
                <a:lnTo>
                  <a:pt x="30187" y="1191285"/>
                </a:lnTo>
                <a:lnTo>
                  <a:pt x="1361948" y="54330"/>
                </a:lnTo>
                <a:lnTo>
                  <a:pt x="1382522" y="78486"/>
                </a:lnTo>
                <a:lnTo>
                  <a:pt x="1400340" y="36449"/>
                </a:lnTo>
                <a:lnTo>
                  <a:pt x="1415796" y="0"/>
                </a:lnTo>
                <a:close/>
              </a:path>
              <a:path w="1416050" h="2392045">
                <a:moveTo>
                  <a:pt x="1415923" y="1525016"/>
                </a:moveTo>
                <a:lnTo>
                  <a:pt x="1406906" y="1517777"/>
                </a:lnTo>
                <a:lnTo>
                  <a:pt x="1349502" y="1471676"/>
                </a:lnTo>
                <a:lnTo>
                  <a:pt x="1342783" y="1502651"/>
                </a:lnTo>
                <a:lnTo>
                  <a:pt x="5461" y="1212977"/>
                </a:lnTo>
                <a:lnTo>
                  <a:pt x="4064" y="1219200"/>
                </a:lnTo>
                <a:lnTo>
                  <a:pt x="0" y="1224026"/>
                </a:lnTo>
                <a:lnTo>
                  <a:pt x="1353172" y="2348230"/>
                </a:lnTo>
                <a:lnTo>
                  <a:pt x="1332865" y="2372614"/>
                </a:lnTo>
                <a:lnTo>
                  <a:pt x="1415923" y="2392045"/>
                </a:lnTo>
                <a:lnTo>
                  <a:pt x="1400225" y="2356358"/>
                </a:lnTo>
                <a:lnTo>
                  <a:pt x="1381633" y="2314067"/>
                </a:lnTo>
                <a:lnTo>
                  <a:pt x="1361313" y="2338463"/>
                </a:lnTo>
                <a:lnTo>
                  <a:pt x="28041" y="1230922"/>
                </a:lnTo>
                <a:lnTo>
                  <a:pt x="1340078" y="1515110"/>
                </a:lnTo>
                <a:lnTo>
                  <a:pt x="1333373" y="1546098"/>
                </a:lnTo>
                <a:lnTo>
                  <a:pt x="1415923" y="1525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295371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+mj-lt"/>
              </a:rPr>
              <a:t>4.</a:t>
            </a:r>
            <a:r>
              <a:rPr sz="3200" spc="-70" dirty="0">
                <a:latin typeface="+mj-lt"/>
              </a:rPr>
              <a:t> </a:t>
            </a:r>
            <a:r>
              <a:rPr sz="3200" spc="-15" dirty="0">
                <a:latin typeface="+mj-lt"/>
              </a:rPr>
              <a:t>Justificativa</a:t>
            </a:r>
            <a:endParaRPr sz="3200" dirty="0">
              <a:latin typeface="+mj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444" y="2441448"/>
            <a:ext cx="2164080" cy="21640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5748" y="1524000"/>
            <a:ext cx="2399030" cy="355225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625475">
              <a:lnSpc>
                <a:spcPct val="100000"/>
              </a:lnSpc>
              <a:spcBef>
                <a:spcPts val="610"/>
              </a:spcBef>
            </a:pPr>
            <a:r>
              <a:rPr sz="1800" spc="-15" dirty="0">
                <a:latin typeface="+mj-lt"/>
                <a:cs typeface="Calibri"/>
              </a:rPr>
              <a:t>Diferenciar-se</a:t>
            </a:r>
            <a:endParaRPr sz="1800" dirty="0">
              <a:latin typeface="+mj-lt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3492" y="2441448"/>
            <a:ext cx="2234184" cy="22341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51197" y="1524000"/>
            <a:ext cx="2399030" cy="355225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680720">
              <a:lnSpc>
                <a:spcPct val="100000"/>
              </a:lnSpc>
              <a:spcBef>
                <a:spcPts val="610"/>
              </a:spcBef>
            </a:pPr>
            <a:r>
              <a:rPr sz="1800" spc="-15" dirty="0">
                <a:latin typeface="+mj-lt"/>
                <a:cs typeface="Calibri"/>
              </a:rPr>
              <a:t>Preço</a:t>
            </a:r>
            <a:r>
              <a:rPr sz="1800" spc="-30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Justo</a:t>
            </a:r>
            <a:endParaRPr sz="1800" dirty="0">
              <a:latin typeface="+mj-lt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19692" y="2441448"/>
            <a:ext cx="2602992" cy="22341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92845" y="1524000"/>
            <a:ext cx="2399030" cy="355225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610"/>
              </a:spcBef>
            </a:pPr>
            <a:r>
              <a:rPr sz="1800" spc="-15" dirty="0">
                <a:latin typeface="+mj-lt"/>
                <a:cs typeface="Calibri"/>
              </a:rPr>
              <a:t>Crescimento</a:t>
            </a:r>
            <a:r>
              <a:rPr sz="1800" spc="50" dirty="0">
                <a:latin typeface="+mj-lt"/>
                <a:cs typeface="Calibri"/>
              </a:rPr>
              <a:t> </a:t>
            </a:r>
            <a:r>
              <a:rPr sz="1800" spc="-10" dirty="0">
                <a:latin typeface="+mj-lt"/>
                <a:cs typeface="Calibri"/>
              </a:rPr>
              <a:t>Profissional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Tema</a:t>
            </a:r>
            <a:r>
              <a:rPr spc="1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20" dirty="0"/>
              <a:t>Trabalho:</a:t>
            </a:r>
            <a:r>
              <a:rPr spc="35" dirty="0"/>
              <a:t> </a:t>
            </a:r>
            <a:r>
              <a:rPr spc="-10" dirty="0"/>
              <a:t>Sistema</a:t>
            </a:r>
            <a:r>
              <a:rPr spc="15" dirty="0"/>
              <a:t> </a:t>
            </a:r>
            <a:r>
              <a:rPr spc="-5" dirty="0"/>
              <a:t>de</a:t>
            </a:r>
            <a:r>
              <a:rPr spc="15" dirty="0"/>
              <a:t> </a:t>
            </a:r>
            <a:r>
              <a:rPr spc="-5" dirty="0"/>
              <a:t>Custos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Nome</a:t>
            </a:r>
            <a:r>
              <a:rPr spc="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10" dirty="0"/>
              <a:t>Aluno:</a:t>
            </a:r>
            <a:r>
              <a:rPr spc="40" dirty="0"/>
              <a:t> </a:t>
            </a:r>
            <a:r>
              <a:rPr spc="-10" dirty="0"/>
              <a:t>Bruno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Abreu</a:t>
            </a:r>
            <a:r>
              <a:rPr dirty="0"/>
              <a:t> </a:t>
            </a:r>
            <a:r>
              <a:rPr spc="-10" dirty="0"/>
              <a:t>Corrêa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630651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Referencial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Teórico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8640" y="1200911"/>
            <a:ext cx="11092180" cy="396904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5"/>
              </a:spcBef>
            </a:pPr>
            <a:r>
              <a:rPr sz="2400" b="1" spc="-10" dirty="0">
                <a:latin typeface="+mj-lt"/>
                <a:cs typeface="Calibri"/>
              </a:rPr>
              <a:t>Sistema</a:t>
            </a:r>
            <a:r>
              <a:rPr sz="2400" b="1" spc="-3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de</a:t>
            </a:r>
            <a:r>
              <a:rPr sz="2400" b="1" spc="-25" dirty="0">
                <a:latin typeface="+mj-lt"/>
                <a:cs typeface="Calibri"/>
              </a:rPr>
              <a:t> </a:t>
            </a:r>
            <a:r>
              <a:rPr sz="2400" b="1" spc="-10" dirty="0">
                <a:latin typeface="+mj-lt"/>
                <a:cs typeface="Calibri"/>
              </a:rPr>
              <a:t>Custos</a:t>
            </a:r>
            <a:endParaRPr sz="2400" dirty="0">
              <a:latin typeface="+mj-lt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7" name="Espaço Reservado para Rodapé 16">
            <a:extLst>
              <a:ext uri="{FF2B5EF4-FFF2-40B4-BE49-F238E27FC236}">
                <a16:creationId xmlns:a16="http://schemas.microsoft.com/office/drawing/2014/main" id="{7E2F322E-0C80-9DB9-B6FE-00CD72E0307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8" name="Espaço Reservado para Data 17">
            <a:extLst>
              <a:ext uri="{FF2B5EF4-FFF2-40B4-BE49-F238E27FC236}">
                <a16:creationId xmlns:a16="http://schemas.microsoft.com/office/drawing/2014/main" id="{12110BEE-9248-9D16-FA21-5C88561A3B8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93113D13-23EB-BBDE-716F-76DBDABC421E}"/>
              </a:ext>
            </a:extLst>
          </p:cNvPr>
          <p:cNvSpPr/>
          <p:nvPr/>
        </p:nvSpPr>
        <p:spPr>
          <a:xfrm>
            <a:off x="548640" y="2486549"/>
            <a:ext cx="2786979" cy="661670"/>
          </a:xfrm>
          <a:custGeom>
            <a:avLst/>
            <a:gdLst/>
            <a:ahLst/>
            <a:cxnLst/>
            <a:rect l="l" t="t" r="r" b="b"/>
            <a:pathLst>
              <a:path w="1957070" h="661670">
                <a:moveTo>
                  <a:pt x="1846579" y="0"/>
                </a:moveTo>
                <a:lnTo>
                  <a:pt x="110235" y="0"/>
                </a:lnTo>
                <a:lnTo>
                  <a:pt x="67326" y="8669"/>
                </a:lnTo>
                <a:lnTo>
                  <a:pt x="32286" y="32305"/>
                </a:lnTo>
                <a:lnTo>
                  <a:pt x="8662" y="67347"/>
                </a:lnTo>
                <a:lnTo>
                  <a:pt x="0" y="110235"/>
                </a:lnTo>
                <a:lnTo>
                  <a:pt x="0" y="551179"/>
                </a:lnTo>
                <a:lnTo>
                  <a:pt x="8662" y="594068"/>
                </a:lnTo>
                <a:lnTo>
                  <a:pt x="32286" y="629110"/>
                </a:lnTo>
                <a:lnTo>
                  <a:pt x="67326" y="652746"/>
                </a:lnTo>
                <a:lnTo>
                  <a:pt x="110235" y="661415"/>
                </a:lnTo>
                <a:lnTo>
                  <a:pt x="1846579" y="661415"/>
                </a:lnTo>
                <a:lnTo>
                  <a:pt x="1889468" y="652746"/>
                </a:lnTo>
                <a:lnTo>
                  <a:pt x="1924510" y="629110"/>
                </a:lnTo>
                <a:lnTo>
                  <a:pt x="1948146" y="594068"/>
                </a:lnTo>
                <a:lnTo>
                  <a:pt x="1956815" y="551179"/>
                </a:lnTo>
                <a:lnTo>
                  <a:pt x="1956815" y="110235"/>
                </a:lnTo>
                <a:lnTo>
                  <a:pt x="1948146" y="67347"/>
                </a:lnTo>
                <a:lnTo>
                  <a:pt x="1924510" y="32305"/>
                </a:lnTo>
                <a:lnTo>
                  <a:pt x="1889468" y="8669"/>
                </a:lnTo>
                <a:lnTo>
                  <a:pt x="1846579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1C1C1D8B-0647-475E-146D-7DF16F37D306}"/>
              </a:ext>
            </a:extLst>
          </p:cNvPr>
          <p:cNvSpPr txBox="1"/>
          <p:nvPr/>
        </p:nvSpPr>
        <p:spPr>
          <a:xfrm>
            <a:off x="813917" y="2657084"/>
            <a:ext cx="234093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spc="5" dirty="0">
                <a:solidFill>
                  <a:srgbClr val="FFFFFF"/>
                </a:solidFill>
                <a:latin typeface="Times New Roman (Títulos)"/>
                <a:cs typeface="Calibri"/>
              </a:rPr>
              <a:t>Princípios de Custeio</a:t>
            </a:r>
            <a:endParaRPr sz="1800" dirty="0">
              <a:latin typeface="Times New Roman (Títulos)"/>
              <a:cs typeface="Calibri"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4FB420C7-D6A4-A927-5F98-9575A694CFCE}"/>
              </a:ext>
            </a:extLst>
          </p:cNvPr>
          <p:cNvSpPr/>
          <p:nvPr/>
        </p:nvSpPr>
        <p:spPr>
          <a:xfrm>
            <a:off x="6105346" y="2486549"/>
            <a:ext cx="2786979" cy="661670"/>
          </a:xfrm>
          <a:custGeom>
            <a:avLst/>
            <a:gdLst/>
            <a:ahLst/>
            <a:cxnLst/>
            <a:rect l="l" t="t" r="r" b="b"/>
            <a:pathLst>
              <a:path w="1957070" h="661670">
                <a:moveTo>
                  <a:pt x="1846579" y="0"/>
                </a:moveTo>
                <a:lnTo>
                  <a:pt x="110235" y="0"/>
                </a:lnTo>
                <a:lnTo>
                  <a:pt x="67326" y="8669"/>
                </a:lnTo>
                <a:lnTo>
                  <a:pt x="32286" y="32305"/>
                </a:lnTo>
                <a:lnTo>
                  <a:pt x="8662" y="67347"/>
                </a:lnTo>
                <a:lnTo>
                  <a:pt x="0" y="110235"/>
                </a:lnTo>
                <a:lnTo>
                  <a:pt x="0" y="551179"/>
                </a:lnTo>
                <a:lnTo>
                  <a:pt x="8662" y="594068"/>
                </a:lnTo>
                <a:lnTo>
                  <a:pt x="32286" y="629110"/>
                </a:lnTo>
                <a:lnTo>
                  <a:pt x="67326" y="652746"/>
                </a:lnTo>
                <a:lnTo>
                  <a:pt x="110235" y="661415"/>
                </a:lnTo>
                <a:lnTo>
                  <a:pt x="1846579" y="661415"/>
                </a:lnTo>
                <a:lnTo>
                  <a:pt x="1889468" y="652746"/>
                </a:lnTo>
                <a:lnTo>
                  <a:pt x="1924510" y="629110"/>
                </a:lnTo>
                <a:lnTo>
                  <a:pt x="1948146" y="594068"/>
                </a:lnTo>
                <a:lnTo>
                  <a:pt x="1956815" y="551179"/>
                </a:lnTo>
                <a:lnTo>
                  <a:pt x="1956815" y="110235"/>
                </a:lnTo>
                <a:lnTo>
                  <a:pt x="1948146" y="67347"/>
                </a:lnTo>
                <a:lnTo>
                  <a:pt x="1924510" y="32305"/>
                </a:lnTo>
                <a:lnTo>
                  <a:pt x="1889468" y="8669"/>
                </a:lnTo>
                <a:lnTo>
                  <a:pt x="1846579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A2B314BA-382A-B9F2-94BF-BCA8A9A95961}"/>
              </a:ext>
            </a:extLst>
          </p:cNvPr>
          <p:cNvSpPr txBox="1"/>
          <p:nvPr/>
        </p:nvSpPr>
        <p:spPr>
          <a:xfrm>
            <a:off x="6486346" y="2657084"/>
            <a:ext cx="234093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spc="5" dirty="0">
                <a:solidFill>
                  <a:srgbClr val="FFFFFF"/>
                </a:solidFill>
                <a:latin typeface="Times New Roman (Títulos)"/>
                <a:cs typeface="Calibri"/>
              </a:rPr>
              <a:t>Métodos de Custeio</a:t>
            </a:r>
            <a:endParaRPr sz="1800" dirty="0">
              <a:latin typeface="Times New Roman (Títulos)"/>
              <a:cs typeface="Calibri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CE3680E-5D9D-F220-E240-D705693D70CE}"/>
              </a:ext>
            </a:extLst>
          </p:cNvPr>
          <p:cNvSpPr txBox="1"/>
          <p:nvPr/>
        </p:nvSpPr>
        <p:spPr>
          <a:xfrm>
            <a:off x="1333241" y="3505200"/>
            <a:ext cx="251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Absorção Integral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Absorção Parcial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Absorção Ideal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Variável Parcial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4D10865-7AE2-3CD7-D124-2614E71DF097}"/>
              </a:ext>
            </a:extLst>
          </p:cNvPr>
          <p:cNvSpPr txBox="1"/>
          <p:nvPr/>
        </p:nvSpPr>
        <p:spPr>
          <a:xfrm>
            <a:off x="6795452" y="3505200"/>
            <a:ext cx="502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Custo-Padrão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Centro de Custos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Unidade de Esforço de Produção (UEP)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Activity-Based</a:t>
            </a:r>
            <a:r>
              <a:rPr lang="pt-BR" dirty="0"/>
              <a:t> </a:t>
            </a:r>
            <a:r>
              <a:rPr lang="pt-BR" dirty="0" err="1"/>
              <a:t>Costing</a:t>
            </a:r>
            <a:r>
              <a:rPr lang="pt-BR" dirty="0"/>
              <a:t> (ABC)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Time-</a:t>
            </a:r>
            <a:r>
              <a:rPr lang="pt-BR" dirty="0" err="1"/>
              <a:t>Driven</a:t>
            </a:r>
            <a:r>
              <a:rPr lang="pt-BR" dirty="0"/>
              <a:t> </a:t>
            </a:r>
            <a:r>
              <a:rPr lang="pt-BR" dirty="0" err="1"/>
              <a:t>Activity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</a:t>
            </a:r>
            <a:r>
              <a:rPr lang="pt-BR" dirty="0" err="1"/>
              <a:t>Costing</a:t>
            </a:r>
            <a:r>
              <a:rPr lang="pt-BR" dirty="0"/>
              <a:t> (TDABC)</a:t>
            </a:r>
          </a:p>
        </p:txBody>
      </p:sp>
      <p:sp>
        <p:nvSpPr>
          <p:cNvPr id="31" name="Chave Esquerda 30">
            <a:extLst>
              <a:ext uri="{FF2B5EF4-FFF2-40B4-BE49-F238E27FC236}">
                <a16:creationId xmlns:a16="http://schemas.microsoft.com/office/drawing/2014/main" id="{B7A5C1CE-50E9-7ECD-255B-5A7794D61DCE}"/>
              </a:ext>
            </a:extLst>
          </p:cNvPr>
          <p:cNvSpPr/>
          <p:nvPr/>
        </p:nvSpPr>
        <p:spPr>
          <a:xfrm>
            <a:off x="3466841" y="2220016"/>
            <a:ext cx="381000" cy="11087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B42B791-B0ED-2CDC-F65D-54A89F179AE0}"/>
              </a:ext>
            </a:extLst>
          </p:cNvPr>
          <p:cNvSpPr txBox="1"/>
          <p:nvPr/>
        </p:nvSpPr>
        <p:spPr>
          <a:xfrm>
            <a:off x="3581399" y="2358900"/>
            <a:ext cx="1752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Custos Variáveis</a:t>
            </a:r>
          </a:p>
          <a:p>
            <a:pPr algn="ctr"/>
            <a:r>
              <a:rPr lang="pt-BR" sz="1600" dirty="0"/>
              <a:t>X</a:t>
            </a:r>
          </a:p>
          <a:p>
            <a:pPr algn="ctr"/>
            <a:r>
              <a:rPr lang="pt-BR" sz="1600" dirty="0"/>
              <a:t>Custos Fixos</a:t>
            </a:r>
          </a:p>
        </p:txBody>
      </p:sp>
      <p:sp>
        <p:nvSpPr>
          <p:cNvPr id="33" name="Chave Esquerda 32">
            <a:extLst>
              <a:ext uri="{FF2B5EF4-FFF2-40B4-BE49-F238E27FC236}">
                <a16:creationId xmlns:a16="http://schemas.microsoft.com/office/drawing/2014/main" id="{9E532045-75DD-3A67-958A-67CAAEC1D1AC}"/>
              </a:ext>
            </a:extLst>
          </p:cNvPr>
          <p:cNvSpPr/>
          <p:nvPr/>
        </p:nvSpPr>
        <p:spPr>
          <a:xfrm>
            <a:off x="9017785" y="2220014"/>
            <a:ext cx="381000" cy="11087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B38106A-F383-F411-3A94-A69DA22F1CE3}"/>
              </a:ext>
            </a:extLst>
          </p:cNvPr>
          <p:cNvSpPr txBox="1"/>
          <p:nvPr/>
        </p:nvSpPr>
        <p:spPr>
          <a:xfrm>
            <a:off x="9170349" y="2401885"/>
            <a:ext cx="1752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Custos Diretos</a:t>
            </a:r>
          </a:p>
          <a:p>
            <a:pPr algn="ctr"/>
            <a:r>
              <a:rPr lang="pt-BR" sz="1600" dirty="0"/>
              <a:t>X</a:t>
            </a:r>
          </a:p>
          <a:p>
            <a:pPr algn="ctr"/>
            <a:r>
              <a:rPr lang="pt-BR" sz="1600" dirty="0"/>
              <a:t>Custos Indiretos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325316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+mj-lt"/>
              </a:rPr>
              <a:t>5.</a:t>
            </a:r>
            <a:r>
              <a:rPr sz="3200" spc="-15" dirty="0">
                <a:latin typeface="+mj-lt"/>
              </a:rPr>
              <a:t> </a:t>
            </a:r>
            <a:r>
              <a:rPr sz="3200" spc="-25" dirty="0">
                <a:latin typeface="+mj-lt"/>
              </a:rPr>
              <a:t>Referencial</a:t>
            </a:r>
            <a:r>
              <a:rPr sz="3200" spc="10" dirty="0">
                <a:latin typeface="+mj-lt"/>
              </a:rPr>
              <a:t> </a:t>
            </a:r>
            <a:r>
              <a:rPr sz="3200" spc="-50" dirty="0">
                <a:latin typeface="+mj-lt"/>
              </a:rPr>
              <a:t>Teórico</a:t>
            </a:r>
            <a:endParaRPr sz="3200"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640" y="1200911"/>
            <a:ext cx="11092180" cy="396904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5"/>
              </a:spcBef>
            </a:pPr>
            <a:r>
              <a:rPr sz="2400" b="1" spc="-5" dirty="0">
                <a:latin typeface="+mj-lt"/>
                <a:cs typeface="Calibri"/>
              </a:rPr>
              <a:t>Empreendedorismo</a:t>
            </a:r>
            <a:endParaRPr sz="2400" dirty="0">
              <a:latin typeface="+mj-lt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9795" y="2385060"/>
            <a:ext cx="3459479" cy="959237"/>
          </a:xfrm>
          <a:prstGeom prst="rect">
            <a:avLst/>
          </a:prstGeom>
          <a:solidFill>
            <a:srgbClr val="FFFFFF"/>
          </a:solidFill>
          <a:ln w="3175">
            <a:solidFill>
              <a:srgbClr val="4471C4"/>
            </a:solidFill>
          </a:ln>
        </p:spPr>
        <p:txBody>
          <a:bodyPr vert="horz" wrap="square" lIns="0" tIns="127000" rIns="0" bIns="0" rtlCol="0">
            <a:spAutoFit/>
          </a:bodyPr>
          <a:lstStyle/>
          <a:p>
            <a:pPr marL="320040" indent="-122555">
              <a:lnSpc>
                <a:spcPct val="100000"/>
              </a:lnSpc>
              <a:spcBef>
                <a:spcPts val="1000"/>
              </a:spcBef>
              <a:buChar char="-"/>
              <a:tabLst>
                <a:tab pos="320675" algn="l"/>
              </a:tabLst>
            </a:pPr>
            <a:r>
              <a:rPr sz="1800" dirty="0">
                <a:latin typeface="+mj-lt"/>
                <a:cs typeface="Calibri"/>
              </a:rPr>
              <a:t>77%</a:t>
            </a:r>
            <a:r>
              <a:rPr sz="1800" spc="-10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empreendedores</a:t>
            </a:r>
            <a:endParaRPr sz="1800" dirty="0">
              <a:latin typeface="+mj-lt"/>
              <a:cs typeface="Calibri"/>
            </a:endParaRPr>
          </a:p>
          <a:p>
            <a:pPr marL="320040" indent="-122555">
              <a:lnSpc>
                <a:spcPct val="100000"/>
              </a:lnSpc>
              <a:buChar char="-"/>
              <a:tabLst>
                <a:tab pos="320675" algn="l"/>
              </a:tabLst>
            </a:pPr>
            <a:r>
              <a:rPr sz="1800" spc="-25" dirty="0">
                <a:latin typeface="+mj-lt"/>
                <a:cs typeface="Calibri"/>
              </a:rPr>
              <a:t>Faturamento</a:t>
            </a:r>
            <a:r>
              <a:rPr sz="1800" spc="70" dirty="0">
                <a:latin typeface="+mj-lt"/>
                <a:cs typeface="Calibri"/>
              </a:rPr>
              <a:t> </a:t>
            </a:r>
            <a:r>
              <a:rPr sz="1800" spc="-20" dirty="0">
                <a:latin typeface="+mj-lt"/>
                <a:cs typeface="Calibri"/>
              </a:rPr>
              <a:t>até</a:t>
            </a:r>
            <a:r>
              <a:rPr sz="1800" spc="5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R$</a:t>
            </a:r>
            <a:r>
              <a:rPr sz="1800" spc="-5" dirty="0">
                <a:latin typeface="+mj-lt"/>
                <a:cs typeface="Calibri"/>
              </a:rPr>
              <a:t> </a:t>
            </a:r>
            <a:r>
              <a:rPr sz="1800" dirty="0">
                <a:latin typeface="+mj-lt"/>
                <a:cs typeface="Calibri"/>
              </a:rPr>
              <a:t>81.000 a.a</a:t>
            </a:r>
          </a:p>
          <a:p>
            <a:pPr marL="320040" indent="-122555">
              <a:lnSpc>
                <a:spcPct val="100000"/>
              </a:lnSpc>
              <a:buChar char="-"/>
              <a:tabLst>
                <a:tab pos="320675" algn="l"/>
              </a:tabLst>
            </a:pPr>
            <a:r>
              <a:rPr sz="1800" spc="-10" dirty="0">
                <a:latin typeface="+mj-lt"/>
                <a:cs typeface="Calibri"/>
              </a:rPr>
              <a:t>Sem</a:t>
            </a:r>
            <a:r>
              <a:rPr sz="1800" spc="-15" dirty="0">
                <a:latin typeface="+mj-lt"/>
                <a:cs typeface="Calibri"/>
              </a:rPr>
              <a:t> preparação</a:t>
            </a:r>
            <a:endParaRPr sz="1800" dirty="0">
              <a:latin typeface="+mj-lt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50720" y="2481072"/>
            <a:ext cx="2087880" cy="2727960"/>
            <a:chOff x="1950720" y="2481072"/>
            <a:chExt cx="2087880" cy="27279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8208" y="2481072"/>
              <a:ext cx="640080" cy="6370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0720" y="3118104"/>
              <a:ext cx="2087880" cy="20909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029205" y="2633929"/>
            <a:ext cx="8883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+mj-lt"/>
                <a:cs typeface="Calibri"/>
              </a:rPr>
              <a:t>Pesquisa: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0" dirty="0"/>
              <a:t>Tema</a:t>
            </a:r>
            <a:r>
              <a:rPr spc="1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20" dirty="0"/>
              <a:t>Trabalho:</a:t>
            </a:r>
            <a:r>
              <a:rPr spc="35" dirty="0"/>
              <a:t> </a:t>
            </a:r>
            <a:r>
              <a:rPr spc="-10" dirty="0"/>
              <a:t>Sistema</a:t>
            </a:r>
            <a:r>
              <a:rPr spc="15" dirty="0"/>
              <a:t> </a:t>
            </a:r>
            <a:r>
              <a:rPr spc="-5" dirty="0"/>
              <a:t>de</a:t>
            </a:r>
            <a:r>
              <a:rPr spc="15" dirty="0"/>
              <a:t> </a:t>
            </a:r>
            <a:r>
              <a:rPr spc="-5" dirty="0"/>
              <a:t>Custos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Nome</a:t>
            </a:r>
            <a:r>
              <a:rPr spc="5" dirty="0"/>
              <a:t> </a:t>
            </a:r>
            <a:r>
              <a:rPr spc="-5" dirty="0"/>
              <a:t>do</a:t>
            </a:r>
            <a:r>
              <a:rPr dirty="0"/>
              <a:t> </a:t>
            </a:r>
            <a:r>
              <a:rPr spc="-10" dirty="0"/>
              <a:t>Aluno:</a:t>
            </a:r>
            <a:r>
              <a:rPr spc="40" dirty="0"/>
              <a:t> </a:t>
            </a:r>
            <a:r>
              <a:rPr spc="-10" dirty="0"/>
              <a:t>Bruno</a:t>
            </a:r>
            <a:r>
              <a:rPr dirty="0"/>
              <a:t> </a:t>
            </a:r>
            <a:r>
              <a:rPr spc="-5" dirty="0"/>
              <a:t>de</a:t>
            </a:r>
            <a:r>
              <a:rPr spc="10" dirty="0"/>
              <a:t> </a:t>
            </a:r>
            <a:r>
              <a:rPr spc="-10" dirty="0"/>
              <a:t>Abreu</a:t>
            </a:r>
            <a:r>
              <a:rPr dirty="0"/>
              <a:t> </a:t>
            </a:r>
            <a:r>
              <a:rPr spc="-10" dirty="0"/>
              <a:t>Corrêa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6749795" y="4716779"/>
            <a:ext cx="3459479" cy="594393"/>
          </a:xfrm>
          <a:prstGeom prst="rect">
            <a:avLst/>
          </a:prstGeom>
          <a:solidFill>
            <a:srgbClr val="FFFFFF"/>
          </a:solidFill>
          <a:ln w="3175">
            <a:solidFill>
              <a:srgbClr val="4471C4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484505" indent="-287020">
              <a:lnSpc>
                <a:spcPct val="100000"/>
              </a:lnSpc>
              <a:spcBef>
                <a:spcPts val="315"/>
              </a:spcBef>
              <a:buChar char="-"/>
              <a:tabLst>
                <a:tab pos="484505" algn="l"/>
                <a:tab pos="485140" algn="l"/>
              </a:tabLst>
            </a:pPr>
            <a:r>
              <a:rPr sz="1800" dirty="0">
                <a:latin typeface="+mj-lt"/>
                <a:cs typeface="Calibri"/>
              </a:rPr>
              <a:t>50%</a:t>
            </a:r>
            <a:r>
              <a:rPr sz="1800" spc="-10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empreendedores</a:t>
            </a:r>
            <a:endParaRPr sz="1800" dirty="0">
              <a:latin typeface="+mj-lt"/>
              <a:cs typeface="Calibri"/>
            </a:endParaRPr>
          </a:p>
          <a:p>
            <a:pPr marL="484505" indent="-287020">
              <a:lnSpc>
                <a:spcPct val="100000"/>
              </a:lnSpc>
              <a:spcBef>
                <a:spcPts val="5"/>
              </a:spcBef>
              <a:buChar char="-"/>
              <a:tabLst>
                <a:tab pos="484505" algn="l"/>
                <a:tab pos="485140" algn="l"/>
              </a:tabLst>
            </a:pPr>
            <a:r>
              <a:rPr sz="1800" spc="-15" dirty="0">
                <a:latin typeface="+mj-lt"/>
                <a:cs typeface="Calibri"/>
              </a:rPr>
              <a:t>insatisfeitos</a:t>
            </a:r>
            <a:endParaRPr sz="1800" dirty="0"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413969"/>
            <a:ext cx="562071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Cenário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309857"/>
            <a:ext cx="3502660" cy="398186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774065">
              <a:lnSpc>
                <a:spcPct val="100000"/>
              </a:lnSpc>
              <a:spcBef>
                <a:spcPts val="225"/>
              </a:spcBef>
            </a:pPr>
            <a:r>
              <a:rPr sz="2400" b="1" spc="-5" dirty="0">
                <a:latin typeface="+mj-lt"/>
                <a:cs typeface="Calibri"/>
              </a:rPr>
              <a:t>Salão</a:t>
            </a:r>
            <a:r>
              <a:rPr sz="2400" b="1" spc="-2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de</a:t>
            </a:r>
            <a:r>
              <a:rPr sz="2400" b="1" spc="-40" dirty="0">
                <a:latin typeface="+mj-lt"/>
                <a:cs typeface="Calibri"/>
              </a:rPr>
              <a:t> </a:t>
            </a:r>
            <a:r>
              <a:rPr sz="2400" b="1" spc="-10" dirty="0">
                <a:latin typeface="+mj-lt"/>
                <a:cs typeface="Calibri"/>
              </a:rPr>
              <a:t>Beleza</a:t>
            </a:r>
            <a:endParaRPr sz="2400" dirty="0">
              <a:latin typeface="+mj-lt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12042" y="6481064"/>
            <a:ext cx="2286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2810ED9-0B24-A5D3-2FB3-FD8A965CF145}"/>
              </a:ext>
            </a:extLst>
          </p:cNvPr>
          <p:cNvSpPr/>
          <p:nvPr/>
        </p:nvSpPr>
        <p:spPr>
          <a:xfrm>
            <a:off x="356550" y="1922850"/>
            <a:ext cx="4222758" cy="2068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spaço Reservado para Rodapé 20">
            <a:extLst>
              <a:ext uri="{FF2B5EF4-FFF2-40B4-BE49-F238E27FC236}">
                <a16:creationId xmlns:a16="http://schemas.microsoft.com/office/drawing/2014/main" id="{D665BD0A-F2BA-4CE9-8856-866C0EB1E8A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22" name="Espaço Reservado para Data 21">
            <a:extLst>
              <a:ext uri="{FF2B5EF4-FFF2-40B4-BE49-F238E27FC236}">
                <a16:creationId xmlns:a16="http://schemas.microsoft.com/office/drawing/2014/main" id="{BD527A5B-7F1B-788E-79CD-FADFC41802F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DE9FDAEF-1D7A-81E0-4BB8-EEFF7DEF672B}"/>
              </a:ext>
            </a:extLst>
          </p:cNvPr>
          <p:cNvGrpSpPr/>
          <p:nvPr/>
        </p:nvGrpSpPr>
        <p:grpSpPr>
          <a:xfrm>
            <a:off x="896239" y="4529160"/>
            <a:ext cx="1969135" cy="673735"/>
            <a:chOff x="981455" y="4931664"/>
            <a:chExt cx="1969135" cy="673735"/>
          </a:xfrm>
        </p:grpSpPr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4899645A-797A-064F-E1E6-A0F2AC63389E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8BFA5FA6-A358-029F-6B18-E7ED65E23FA5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120C568-E96E-BFCE-BE40-F29C8D45DE62}"/>
              </a:ext>
            </a:extLst>
          </p:cNvPr>
          <p:cNvSpPr txBox="1"/>
          <p:nvPr/>
        </p:nvSpPr>
        <p:spPr>
          <a:xfrm>
            <a:off x="1584566" y="4702323"/>
            <a:ext cx="119576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000" spc="5" dirty="0">
                <a:solidFill>
                  <a:srgbClr val="FFFFFF"/>
                </a:solidFill>
                <a:latin typeface="Times New Roman (Títulos)"/>
                <a:cs typeface="Calibri"/>
              </a:rPr>
              <a:t>Porte</a:t>
            </a:r>
            <a:endParaRPr sz="1800" dirty="0">
              <a:latin typeface="Times New Roman (Títulos)"/>
              <a:cs typeface="Calibri"/>
            </a:endParaRPr>
          </a:p>
        </p:txBody>
      </p:sp>
      <p:grpSp>
        <p:nvGrpSpPr>
          <p:cNvPr id="14" name="object 9">
            <a:extLst>
              <a:ext uri="{FF2B5EF4-FFF2-40B4-BE49-F238E27FC236}">
                <a16:creationId xmlns:a16="http://schemas.microsoft.com/office/drawing/2014/main" id="{2BB8B3FB-5CA0-ED42-A034-909309E08051}"/>
              </a:ext>
            </a:extLst>
          </p:cNvPr>
          <p:cNvGrpSpPr/>
          <p:nvPr/>
        </p:nvGrpSpPr>
        <p:grpSpPr>
          <a:xfrm>
            <a:off x="3495486" y="4523064"/>
            <a:ext cx="2179319" cy="673735"/>
            <a:chOff x="3602735" y="4931664"/>
            <a:chExt cx="1965960" cy="673735"/>
          </a:xfrm>
        </p:grpSpPr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C453C30E-5D5F-9CC1-E8D6-00CE72884161}"/>
                </a:ext>
              </a:extLst>
            </p:cNvPr>
            <p:cNvSpPr/>
            <p:nvPr/>
          </p:nvSpPr>
          <p:spPr>
            <a:xfrm>
              <a:off x="3608831" y="4937760"/>
              <a:ext cx="1953895" cy="661670"/>
            </a:xfrm>
            <a:custGeom>
              <a:avLst/>
              <a:gdLst/>
              <a:ahLst/>
              <a:cxnLst/>
              <a:rect l="l" t="t" r="r" b="b"/>
              <a:pathLst>
                <a:path w="1953895" h="661670">
                  <a:moveTo>
                    <a:pt x="1843531" y="0"/>
                  </a:moveTo>
                  <a:lnTo>
                    <a:pt x="110235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5" y="661415"/>
                  </a:lnTo>
                  <a:lnTo>
                    <a:pt x="1843531" y="661415"/>
                  </a:lnTo>
                  <a:lnTo>
                    <a:pt x="1886420" y="652746"/>
                  </a:lnTo>
                  <a:lnTo>
                    <a:pt x="1921462" y="629110"/>
                  </a:lnTo>
                  <a:lnTo>
                    <a:pt x="1945098" y="594068"/>
                  </a:lnTo>
                  <a:lnTo>
                    <a:pt x="1953767" y="551179"/>
                  </a:lnTo>
                  <a:lnTo>
                    <a:pt x="1953767" y="110235"/>
                  </a:lnTo>
                  <a:lnTo>
                    <a:pt x="1945098" y="67347"/>
                  </a:lnTo>
                  <a:lnTo>
                    <a:pt x="1921462" y="32305"/>
                  </a:lnTo>
                  <a:lnTo>
                    <a:pt x="1886420" y="8669"/>
                  </a:lnTo>
                  <a:lnTo>
                    <a:pt x="1843531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B07BB4F1-0911-BB68-1535-56C5D86E4316}"/>
                </a:ext>
              </a:extLst>
            </p:cNvPr>
            <p:cNvSpPr/>
            <p:nvPr/>
          </p:nvSpPr>
          <p:spPr>
            <a:xfrm>
              <a:off x="3608831" y="4937760"/>
              <a:ext cx="1953895" cy="661670"/>
            </a:xfrm>
            <a:custGeom>
              <a:avLst/>
              <a:gdLst/>
              <a:ahLst/>
              <a:cxnLst/>
              <a:rect l="l" t="t" r="r" b="b"/>
              <a:pathLst>
                <a:path w="1953895" h="661670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5" y="0"/>
                  </a:lnTo>
                  <a:lnTo>
                    <a:pt x="1843531" y="0"/>
                  </a:lnTo>
                  <a:lnTo>
                    <a:pt x="1886420" y="8669"/>
                  </a:lnTo>
                  <a:lnTo>
                    <a:pt x="1921462" y="32305"/>
                  </a:lnTo>
                  <a:lnTo>
                    <a:pt x="1945098" y="67347"/>
                  </a:lnTo>
                  <a:lnTo>
                    <a:pt x="1953767" y="110235"/>
                  </a:lnTo>
                  <a:lnTo>
                    <a:pt x="1953767" y="551179"/>
                  </a:lnTo>
                  <a:lnTo>
                    <a:pt x="1945098" y="594068"/>
                  </a:lnTo>
                  <a:lnTo>
                    <a:pt x="1921462" y="629110"/>
                  </a:lnTo>
                  <a:lnTo>
                    <a:pt x="1886420" y="652746"/>
                  </a:lnTo>
                  <a:lnTo>
                    <a:pt x="1843531" y="661415"/>
                  </a:lnTo>
                  <a:lnTo>
                    <a:pt x="110235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2">
            <a:extLst>
              <a:ext uri="{FF2B5EF4-FFF2-40B4-BE49-F238E27FC236}">
                <a16:creationId xmlns:a16="http://schemas.microsoft.com/office/drawing/2014/main" id="{67E1869D-C05E-183A-6E1E-D17B45462982}"/>
              </a:ext>
            </a:extLst>
          </p:cNvPr>
          <p:cNvSpPr txBox="1"/>
          <p:nvPr/>
        </p:nvSpPr>
        <p:spPr>
          <a:xfrm>
            <a:off x="3886200" y="4693598"/>
            <a:ext cx="1524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5">
                <a:solidFill>
                  <a:srgbClr val="FFFFFF"/>
                </a:solidFill>
                <a:latin typeface="Times New Roman (Títulos)"/>
                <a:cs typeface="Calibri"/>
              </a:defRPr>
            </a:lvl1pPr>
          </a:lstStyle>
          <a:p>
            <a:r>
              <a:rPr lang="pt-BR" dirty="0"/>
              <a:t>Organização</a:t>
            </a:r>
            <a:endParaRPr dirty="0"/>
          </a:p>
        </p:txBody>
      </p:sp>
      <p:grpSp>
        <p:nvGrpSpPr>
          <p:cNvPr id="25" name="object 14">
            <a:extLst>
              <a:ext uri="{FF2B5EF4-FFF2-40B4-BE49-F238E27FC236}">
                <a16:creationId xmlns:a16="http://schemas.microsoft.com/office/drawing/2014/main" id="{EC6CF89E-237E-456C-1B78-20E07E435533}"/>
              </a:ext>
            </a:extLst>
          </p:cNvPr>
          <p:cNvGrpSpPr/>
          <p:nvPr/>
        </p:nvGrpSpPr>
        <p:grpSpPr>
          <a:xfrm>
            <a:off x="6332554" y="4504682"/>
            <a:ext cx="1969135" cy="673735"/>
            <a:chOff x="6220967" y="4931664"/>
            <a:chExt cx="1969135" cy="673735"/>
          </a:xfrm>
        </p:grpSpPr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7A4B169D-10CE-FA3A-C1AE-ACB473ABBA94}"/>
                </a:ext>
              </a:extLst>
            </p:cNvPr>
            <p:cNvSpPr/>
            <p:nvPr/>
          </p:nvSpPr>
          <p:spPr>
            <a:xfrm>
              <a:off x="6227063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80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1846580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8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6">
              <a:extLst>
                <a:ext uri="{FF2B5EF4-FFF2-40B4-BE49-F238E27FC236}">
                  <a16:creationId xmlns:a16="http://schemas.microsoft.com/office/drawing/2014/main" id="{45650602-A5FC-B92A-7260-B4DBB64C524C}"/>
                </a:ext>
              </a:extLst>
            </p:cNvPr>
            <p:cNvSpPr/>
            <p:nvPr/>
          </p:nvSpPr>
          <p:spPr>
            <a:xfrm>
              <a:off x="6227063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1846580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80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17">
            <a:extLst>
              <a:ext uri="{FF2B5EF4-FFF2-40B4-BE49-F238E27FC236}">
                <a16:creationId xmlns:a16="http://schemas.microsoft.com/office/drawing/2014/main" id="{6C99E834-FE3D-CFE1-2A5A-60D04949E445}"/>
              </a:ext>
            </a:extLst>
          </p:cNvPr>
          <p:cNvSpPr txBox="1"/>
          <p:nvPr/>
        </p:nvSpPr>
        <p:spPr>
          <a:xfrm>
            <a:off x="6234212" y="4693597"/>
            <a:ext cx="21659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5">
                <a:solidFill>
                  <a:srgbClr val="FFFFFF"/>
                </a:solidFill>
                <a:latin typeface="Times New Roman (Títulos)"/>
                <a:cs typeface="Calibri"/>
              </a:defRPr>
            </a:lvl1pPr>
          </a:lstStyle>
          <a:p>
            <a:pPr algn="ctr"/>
            <a:r>
              <a:rPr lang="pt-BR" dirty="0"/>
              <a:t>Serviços</a:t>
            </a:r>
            <a:endParaRPr dirty="0"/>
          </a:p>
        </p:txBody>
      </p:sp>
      <p:grpSp>
        <p:nvGrpSpPr>
          <p:cNvPr id="31" name="object 14">
            <a:extLst>
              <a:ext uri="{FF2B5EF4-FFF2-40B4-BE49-F238E27FC236}">
                <a16:creationId xmlns:a16="http://schemas.microsoft.com/office/drawing/2014/main" id="{BF3AC54E-8962-E709-01B2-FE31F9F44AFA}"/>
              </a:ext>
            </a:extLst>
          </p:cNvPr>
          <p:cNvGrpSpPr/>
          <p:nvPr/>
        </p:nvGrpSpPr>
        <p:grpSpPr>
          <a:xfrm>
            <a:off x="8886807" y="4510651"/>
            <a:ext cx="1969135" cy="673735"/>
            <a:chOff x="6220967" y="4931664"/>
            <a:chExt cx="1969135" cy="673735"/>
          </a:xfrm>
        </p:grpSpPr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141829AC-EA13-6389-DC45-96F896A33041}"/>
                </a:ext>
              </a:extLst>
            </p:cNvPr>
            <p:cNvSpPr/>
            <p:nvPr/>
          </p:nvSpPr>
          <p:spPr>
            <a:xfrm>
              <a:off x="6227063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80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1846580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8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6">
              <a:extLst>
                <a:ext uri="{FF2B5EF4-FFF2-40B4-BE49-F238E27FC236}">
                  <a16:creationId xmlns:a16="http://schemas.microsoft.com/office/drawing/2014/main" id="{732E1304-707E-3D46-9637-71DA919E6191}"/>
                </a:ext>
              </a:extLst>
            </p:cNvPr>
            <p:cNvSpPr/>
            <p:nvPr/>
          </p:nvSpPr>
          <p:spPr>
            <a:xfrm>
              <a:off x="6227063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1846580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80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7">
            <a:extLst>
              <a:ext uri="{FF2B5EF4-FFF2-40B4-BE49-F238E27FC236}">
                <a16:creationId xmlns:a16="http://schemas.microsoft.com/office/drawing/2014/main" id="{6CDE1597-D5A2-1A79-E447-7EF55C9F76C4}"/>
              </a:ext>
            </a:extLst>
          </p:cNvPr>
          <p:cNvSpPr txBox="1"/>
          <p:nvPr/>
        </p:nvSpPr>
        <p:spPr>
          <a:xfrm>
            <a:off x="9200169" y="4681312"/>
            <a:ext cx="140726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5">
                <a:solidFill>
                  <a:srgbClr val="FFFFFF"/>
                </a:solidFill>
                <a:latin typeface="Times New Roman (Títulos)"/>
                <a:cs typeface="Calibri"/>
              </a:defRPr>
            </a:lvl1pPr>
          </a:lstStyle>
          <a:p>
            <a:r>
              <a:rPr lang="pt-BR" dirty="0"/>
              <a:t>Dificuldades</a:t>
            </a:r>
            <a:endParaRPr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99E0DA3-1E03-0A77-B7AD-BD5C5381A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45" y="2806746"/>
            <a:ext cx="1513960" cy="1513960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1A5E638-A7FD-EAEA-E744-8BDDCC49A1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328" y="2806746"/>
            <a:ext cx="1513960" cy="151396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E4AED801-383A-FB53-EE66-0E7DF035E2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932" y="2683490"/>
            <a:ext cx="1218895" cy="1218895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2EF7CC1D-DFDB-0092-E2C9-F2EB8959B8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746" y="3310166"/>
            <a:ext cx="918640" cy="91864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CDF11D25-04BC-BA1B-6AB6-B48A96A151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318" y="2446213"/>
            <a:ext cx="1957070" cy="1957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020185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8084" y="6461252"/>
            <a:ext cx="177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7887" y="1792223"/>
            <a:ext cx="3566160" cy="673735"/>
            <a:chOff x="627887" y="1792223"/>
            <a:chExt cx="3566160" cy="673735"/>
          </a:xfrm>
        </p:grpSpPr>
        <p:sp>
          <p:nvSpPr>
            <p:cNvPr id="7" name="object 7"/>
            <p:cNvSpPr/>
            <p:nvPr/>
          </p:nvSpPr>
          <p:spPr>
            <a:xfrm>
              <a:off x="633983" y="1798319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69">
                  <a:moveTo>
                    <a:pt x="3443731" y="0"/>
                  </a:moveTo>
                  <a:lnTo>
                    <a:pt x="110236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6" y="661415"/>
                  </a:lnTo>
                  <a:lnTo>
                    <a:pt x="3443731" y="661415"/>
                  </a:lnTo>
                  <a:lnTo>
                    <a:pt x="3486620" y="652746"/>
                  </a:lnTo>
                  <a:lnTo>
                    <a:pt x="3521662" y="629110"/>
                  </a:lnTo>
                  <a:lnTo>
                    <a:pt x="3545298" y="594068"/>
                  </a:lnTo>
                  <a:lnTo>
                    <a:pt x="3553967" y="551179"/>
                  </a:lnTo>
                  <a:lnTo>
                    <a:pt x="3553967" y="110235"/>
                  </a:lnTo>
                  <a:lnTo>
                    <a:pt x="3545298" y="67347"/>
                  </a:lnTo>
                  <a:lnTo>
                    <a:pt x="3521662" y="32305"/>
                  </a:lnTo>
                  <a:lnTo>
                    <a:pt x="3486620" y="8669"/>
                  </a:lnTo>
                  <a:lnTo>
                    <a:pt x="3443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3983" y="1798319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69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6" y="0"/>
                  </a:lnTo>
                  <a:lnTo>
                    <a:pt x="3443731" y="0"/>
                  </a:lnTo>
                  <a:lnTo>
                    <a:pt x="3486620" y="8669"/>
                  </a:lnTo>
                  <a:lnTo>
                    <a:pt x="3521662" y="32305"/>
                  </a:lnTo>
                  <a:lnTo>
                    <a:pt x="3545298" y="67347"/>
                  </a:lnTo>
                  <a:lnTo>
                    <a:pt x="3553967" y="110235"/>
                  </a:lnTo>
                  <a:lnTo>
                    <a:pt x="3553967" y="551179"/>
                  </a:lnTo>
                  <a:lnTo>
                    <a:pt x="3545298" y="594068"/>
                  </a:lnTo>
                  <a:lnTo>
                    <a:pt x="3521662" y="629110"/>
                  </a:lnTo>
                  <a:lnTo>
                    <a:pt x="3486620" y="652746"/>
                  </a:lnTo>
                  <a:lnTo>
                    <a:pt x="3443731" y="661415"/>
                  </a:lnTo>
                  <a:lnTo>
                    <a:pt x="110236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66800" y="1964258"/>
            <a:ext cx="285381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j-lt"/>
                <a:cs typeface="Calibri"/>
              </a:rPr>
              <a:t>Princípios</a:t>
            </a:r>
            <a:r>
              <a:rPr sz="2400" spc="-25" dirty="0">
                <a:latin typeface="+mj-lt"/>
                <a:cs typeface="Calibri"/>
              </a:rPr>
              <a:t> </a:t>
            </a:r>
            <a:r>
              <a:rPr sz="2400" spc="-10" dirty="0">
                <a:latin typeface="+mj-lt"/>
                <a:cs typeface="Calibri"/>
              </a:rPr>
              <a:t>de</a:t>
            </a:r>
            <a:r>
              <a:rPr sz="2400" spc="-20" dirty="0">
                <a:latin typeface="+mj-lt"/>
                <a:cs typeface="Calibri"/>
              </a:rPr>
              <a:t> </a:t>
            </a:r>
            <a:r>
              <a:rPr sz="2400" spc="-15" dirty="0">
                <a:latin typeface="+mj-lt"/>
                <a:cs typeface="Calibri"/>
              </a:rPr>
              <a:t>Custeio</a:t>
            </a:r>
            <a:endParaRPr sz="2400" dirty="0">
              <a:latin typeface="+mj-lt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16736" y="2947416"/>
            <a:ext cx="3566160" cy="673735"/>
            <a:chOff x="1316736" y="2947416"/>
            <a:chExt cx="3566160" cy="673735"/>
          </a:xfrm>
        </p:grpSpPr>
        <p:sp>
          <p:nvSpPr>
            <p:cNvPr id="11" name="object 11"/>
            <p:cNvSpPr/>
            <p:nvPr/>
          </p:nvSpPr>
          <p:spPr>
            <a:xfrm>
              <a:off x="1322832" y="2953512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70">
                  <a:moveTo>
                    <a:pt x="3443731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6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3443731" y="661415"/>
                  </a:lnTo>
                  <a:lnTo>
                    <a:pt x="3486620" y="652746"/>
                  </a:lnTo>
                  <a:lnTo>
                    <a:pt x="3521662" y="629110"/>
                  </a:lnTo>
                  <a:lnTo>
                    <a:pt x="3545298" y="594068"/>
                  </a:lnTo>
                  <a:lnTo>
                    <a:pt x="3553968" y="551179"/>
                  </a:lnTo>
                  <a:lnTo>
                    <a:pt x="3553968" y="110236"/>
                  </a:lnTo>
                  <a:lnTo>
                    <a:pt x="3545298" y="67347"/>
                  </a:lnTo>
                  <a:lnTo>
                    <a:pt x="3521662" y="32305"/>
                  </a:lnTo>
                  <a:lnTo>
                    <a:pt x="3486620" y="8669"/>
                  </a:lnTo>
                  <a:lnTo>
                    <a:pt x="3443731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22832" y="2953512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70">
                  <a:moveTo>
                    <a:pt x="0" y="110236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3443731" y="0"/>
                  </a:lnTo>
                  <a:lnTo>
                    <a:pt x="3486620" y="8669"/>
                  </a:lnTo>
                  <a:lnTo>
                    <a:pt x="3521662" y="32305"/>
                  </a:lnTo>
                  <a:lnTo>
                    <a:pt x="3545298" y="67347"/>
                  </a:lnTo>
                  <a:lnTo>
                    <a:pt x="3553968" y="110236"/>
                  </a:lnTo>
                  <a:lnTo>
                    <a:pt x="3553968" y="551179"/>
                  </a:lnTo>
                  <a:lnTo>
                    <a:pt x="3545298" y="594068"/>
                  </a:lnTo>
                  <a:lnTo>
                    <a:pt x="3521662" y="629110"/>
                  </a:lnTo>
                  <a:lnTo>
                    <a:pt x="3486620" y="652746"/>
                  </a:lnTo>
                  <a:lnTo>
                    <a:pt x="3443731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24226" y="3120644"/>
            <a:ext cx="217157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+mj-lt"/>
                <a:cs typeface="Calibri"/>
              </a:rPr>
              <a:t>Absorção</a:t>
            </a:r>
            <a:r>
              <a:rPr sz="2000" spc="-45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+mj-lt"/>
                <a:cs typeface="Calibri"/>
              </a:rPr>
              <a:t>Parcial</a:t>
            </a:r>
            <a:endParaRPr sz="2000" dirty="0">
              <a:latin typeface="+mj-lt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16736" y="3959352"/>
            <a:ext cx="3566160" cy="673735"/>
            <a:chOff x="1316736" y="3959352"/>
            <a:chExt cx="3566160" cy="673735"/>
          </a:xfrm>
        </p:grpSpPr>
        <p:sp>
          <p:nvSpPr>
            <p:cNvPr id="15" name="object 15"/>
            <p:cNvSpPr/>
            <p:nvPr/>
          </p:nvSpPr>
          <p:spPr>
            <a:xfrm>
              <a:off x="1322832" y="3965448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70">
                  <a:moveTo>
                    <a:pt x="3443731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3443731" y="661415"/>
                  </a:lnTo>
                  <a:lnTo>
                    <a:pt x="3486620" y="652746"/>
                  </a:lnTo>
                  <a:lnTo>
                    <a:pt x="3521662" y="629110"/>
                  </a:lnTo>
                  <a:lnTo>
                    <a:pt x="3545298" y="594068"/>
                  </a:lnTo>
                  <a:lnTo>
                    <a:pt x="3553968" y="551179"/>
                  </a:lnTo>
                  <a:lnTo>
                    <a:pt x="3553968" y="110235"/>
                  </a:lnTo>
                  <a:lnTo>
                    <a:pt x="3545298" y="67347"/>
                  </a:lnTo>
                  <a:lnTo>
                    <a:pt x="3521662" y="32305"/>
                  </a:lnTo>
                  <a:lnTo>
                    <a:pt x="3486620" y="8669"/>
                  </a:lnTo>
                  <a:lnTo>
                    <a:pt x="3443731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2832" y="3965448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70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3443731" y="0"/>
                  </a:lnTo>
                  <a:lnTo>
                    <a:pt x="3486620" y="8669"/>
                  </a:lnTo>
                  <a:lnTo>
                    <a:pt x="3521662" y="32305"/>
                  </a:lnTo>
                  <a:lnTo>
                    <a:pt x="3545298" y="67347"/>
                  </a:lnTo>
                  <a:lnTo>
                    <a:pt x="3553968" y="110235"/>
                  </a:lnTo>
                  <a:lnTo>
                    <a:pt x="3553968" y="551179"/>
                  </a:lnTo>
                  <a:lnTo>
                    <a:pt x="3545298" y="594068"/>
                  </a:lnTo>
                  <a:lnTo>
                    <a:pt x="3521662" y="629110"/>
                  </a:lnTo>
                  <a:lnTo>
                    <a:pt x="3486620" y="652746"/>
                  </a:lnTo>
                  <a:lnTo>
                    <a:pt x="3443731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78507" y="4132910"/>
            <a:ext cx="236936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-10">
                <a:solidFill>
                  <a:srgbClr val="FFFFFF"/>
                </a:solidFill>
                <a:latin typeface="+mj-lt"/>
                <a:cs typeface="Calibri"/>
              </a:defRPr>
            </a:lvl1pPr>
          </a:lstStyle>
          <a:p>
            <a:r>
              <a:rPr dirty="0"/>
              <a:t>Absorção Integral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5894832" y="1792223"/>
            <a:ext cx="3566160" cy="673735"/>
            <a:chOff x="5894832" y="1792223"/>
            <a:chExt cx="3566160" cy="673735"/>
          </a:xfrm>
        </p:grpSpPr>
        <p:sp>
          <p:nvSpPr>
            <p:cNvPr id="19" name="object 19"/>
            <p:cNvSpPr/>
            <p:nvPr/>
          </p:nvSpPr>
          <p:spPr>
            <a:xfrm>
              <a:off x="5900928" y="1798319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69">
                  <a:moveTo>
                    <a:pt x="3443731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3443731" y="661415"/>
                  </a:lnTo>
                  <a:lnTo>
                    <a:pt x="3486620" y="652746"/>
                  </a:lnTo>
                  <a:lnTo>
                    <a:pt x="3521662" y="629110"/>
                  </a:lnTo>
                  <a:lnTo>
                    <a:pt x="3545298" y="594068"/>
                  </a:lnTo>
                  <a:lnTo>
                    <a:pt x="3553968" y="551179"/>
                  </a:lnTo>
                  <a:lnTo>
                    <a:pt x="3553968" y="110235"/>
                  </a:lnTo>
                  <a:lnTo>
                    <a:pt x="3545298" y="67347"/>
                  </a:lnTo>
                  <a:lnTo>
                    <a:pt x="3521662" y="32305"/>
                  </a:lnTo>
                  <a:lnTo>
                    <a:pt x="3486620" y="8669"/>
                  </a:lnTo>
                  <a:lnTo>
                    <a:pt x="34437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00928" y="1798319"/>
              <a:ext cx="3554095" cy="661670"/>
            </a:xfrm>
            <a:custGeom>
              <a:avLst/>
              <a:gdLst/>
              <a:ahLst/>
              <a:cxnLst/>
              <a:rect l="l" t="t" r="r" b="b"/>
              <a:pathLst>
                <a:path w="3554095" h="661669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3443731" y="0"/>
                  </a:lnTo>
                  <a:lnTo>
                    <a:pt x="3486620" y="8669"/>
                  </a:lnTo>
                  <a:lnTo>
                    <a:pt x="3521662" y="32305"/>
                  </a:lnTo>
                  <a:lnTo>
                    <a:pt x="3545298" y="67347"/>
                  </a:lnTo>
                  <a:lnTo>
                    <a:pt x="3553968" y="110235"/>
                  </a:lnTo>
                  <a:lnTo>
                    <a:pt x="3553968" y="551179"/>
                  </a:lnTo>
                  <a:lnTo>
                    <a:pt x="3545298" y="594068"/>
                  </a:lnTo>
                  <a:lnTo>
                    <a:pt x="3521662" y="629110"/>
                  </a:lnTo>
                  <a:lnTo>
                    <a:pt x="3486620" y="652746"/>
                  </a:lnTo>
                  <a:lnTo>
                    <a:pt x="3443731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397910" y="1938076"/>
            <a:ext cx="29004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400" spc="-5">
                <a:latin typeface="Calibri"/>
                <a:cs typeface="Calibri"/>
              </a:defRPr>
            </a:lvl1pPr>
          </a:lstStyle>
          <a:p>
            <a:r>
              <a:rPr dirty="0">
                <a:latin typeface="+mj-lt"/>
              </a:rPr>
              <a:t>Métodos de Custeio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6793992" y="2923032"/>
            <a:ext cx="3563620" cy="676910"/>
            <a:chOff x="6793992" y="2923032"/>
            <a:chExt cx="3563620" cy="676910"/>
          </a:xfrm>
        </p:grpSpPr>
        <p:sp>
          <p:nvSpPr>
            <p:cNvPr id="23" name="object 23"/>
            <p:cNvSpPr/>
            <p:nvPr/>
          </p:nvSpPr>
          <p:spPr>
            <a:xfrm>
              <a:off x="6800088" y="2929128"/>
              <a:ext cx="3550920" cy="664845"/>
            </a:xfrm>
            <a:custGeom>
              <a:avLst/>
              <a:gdLst/>
              <a:ahLst/>
              <a:cxnLst/>
              <a:rect l="l" t="t" r="r" b="b"/>
              <a:pathLst>
                <a:path w="3550920" h="664845">
                  <a:moveTo>
                    <a:pt x="3440176" y="0"/>
                  </a:moveTo>
                  <a:lnTo>
                    <a:pt x="110743" y="0"/>
                  </a:lnTo>
                  <a:lnTo>
                    <a:pt x="67615" y="8695"/>
                  </a:lnTo>
                  <a:lnTo>
                    <a:pt x="32416" y="32416"/>
                  </a:lnTo>
                  <a:lnTo>
                    <a:pt x="8695" y="67615"/>
                  </a:lnTo>
                  <a:lnTo>
                    <a:pt x="0" y="110744"/>
                  </a:lnTo>
                  <a:lnTo>
                    <a:pt x="0" y="553720"/>
                  </a:lnTo>
                  <a:lnTo>
                    <a:pt x="8695" y="596848"/>
                  </a:lnTo>
                  <a:lnTo>
                    <a:pt x="32416" y="632047"/>
                  </a:lnTo>
                  <a:lnTo>
                    <a:pt x="67615" y="655768"/>
                  </a:lnTo>
                  <a:lnTo>
                    <a:pt x="110743" y="664463"/>
                  </a:lnTo>
                  <a:lnTo>
                    <a:pt x="3440176" y="664463"/>
                  </a:lnTo>
                  <a:lnTo>
                    <a:pt x="3483304" y="655768"/>
                  </a:lnTo>
                  <a:lnTo>
                    <a:pt x="3518503" y="632047"/>
                  </a:lnTo>
                  <a:lnTo>
                    <a:pt x="3542224" y="596848"/>
                  </a:lnTo>
                  <a:lnTo>
                    <a:pt x="3550919" y="553720"/>
                  </a:lnTo>
                  <a:lnTo>
                    <a:pt x="3550919" y="110744"/>
                  </a:lnTo>
                  <a:lnTo>
                    <a:pt x="3542224" y="67615"/>
                  </a:lnTo>
                  <a:lnTo>
                    <a:pt x="3518503" y="32416"/>
                  </a:lnTo>
                  <a:lnTo>
                    <a:pt x="3483304" y="8695"/>
                  </a:lnTo>
                  <a:lnTo>
                    <a:pt x="3440176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00088" y="2929128"/>
              <a:ext cx="3550920" cy="664845"/>
            </a:xfrm>
            <a:custGeom>
              <a:avLst/>
              <a:gdLst/>
              <a:ahLst/>
              <a:cxnLst/>
              <a:rect l="l" t="t" r="r" b="b"/>
              <a:pathLst>
                <a:path w="3550920" h="664845">
                  <a:moveTo>
                    <a:pt x="0" y="110744"/>
                  </a:moveTo>
                  <a:lnTo>
                    <a:pt x="8695" y="67615"/>
                  </a:lnTo>
                  <a:lnTo>
                    <a:pt x="32416" y="32416"/>
                  </a:lnTo>
                  <a:lnTo>
                    <a:pt x="67615" y="8695"/>
                  </a:lnTo>
                  <a:lnTo>
                    <a:pt x="110743" y="0"/>
                  </a:lnTo>
                  <a:lnTo>
                    <a:pt x="3440176" y="0"/>
                  </a:lnTo>
                  <a:lnTo>
                    <a:pt x="3483304" y="8695"/>
                  </a:lnTo>
                  <a:lnTo>
                    <a:pt x="3518503" y="32416"/>
                  </a:lnTo>
                  <a:lnTo>
                    <a:pt x="3542224" y="67615"/>
                  </a:lnTo>
                  <a:lnTo>
                    <a:pt x="3550919" y="110744"/>
                  </a:lnTo>
                  <a:lnTo>
                    <a:pt x="3550919" y="553720"/>
                  </a:lnTo>
                  <a:lnTo>
                    <a:pt x="3542224" y="596848"/>
                  </a:lnTo>
                  <a:lnTo>
                    <a:pt x="3518503" y="632047"/>
                  </a:lnTo>
                  <a:lnTo>
                    <a:pt x="3483304" y="655768"/>
                  </a:lnTo>
                  <a:lnTo>
                    <a:pt x="3440176" y="664463"/>
                  </a:lnTo>
                  <a:lnTo>
                    <a:pt x="110743" y="664463"/>
                  </a:lnTo>
                  <a:lnTo>
                    <a:pt x="67615" y="655768"/>
                  </a:lnTo>
                  <a:lnTo>
                    <a:pt x="32416" y="632047"/>
                  </a:lnTo>
                  <a:lnTo>
                    <a:pt x="8695" y="596848"/>
                  </a:lnTo>
                  <a:lnTo>
                    <a:pt x="0" y="553720"/>
                  </a:lnTo>
                  <a:lnTo>
                    <a:pt x="0" y="110744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45628" y="3096844"/>
            <a:ext cx="192214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-10">
                <a:solidFill>
                  <a:srgbClr val="FFFFFF"/>
                </a:solidFill>
                <a:latin typeface="+mj-lt"/>
                <a:cs typeface="Calibri"/>
              </a:defRPr>
            </a:lvl1pPr>
          </a:lstStyle>
          <a:p>
            <a:r>
              <a:rPr dirty="0"/>
              <a:t>Custo-Padrão</a:t>
            </a:r>
          </a:p>
        </p:txBody>
      </p:sp>
      <p:grpSp>
        <p:nvGrpSpPr>
          <p:cNvPr id="26" name="object 26"/>
          <p:cNvGrpSpPr/>
          <p:nvPr/>
        </p:nvGrpSpPr>
        <p:grpSpPr>
          <a:xfrm>
            <a:off x="6793992" y="3953255"/>
            <a:ext cx="3563620" cy="673735"/>
            <a:chOff x="6793992" y="3953255"/>
            <a:chExt cx="3563620" cy="673735"/>
          </a:xfrm>
        </p:grpSpPr>
        <p:sp>
          <p:nvSpPr>
            <p:cNvPr id="27" name="object 27"/>
            <p:cNvSpPr/>
            <p:nvPr/>
          </p:nvSpPr>
          <p:spPr>
            <a:xfrm>
              <a:off x="6800088" y="3959351"/>
              <a:ext cx="3550920" cy="661670"/>
            </a:xfrm>
            <a:custGeom>
              <a:avLst/>
              <a:gdLst/>
              <a:ahLst/>
              <a:cxnLst/>
              <a:rect l="l" t="t" r="r" b="b"/>
              <a:pathLst>
                <a:path w="3550920" h="661670">
                  <a:moveTo>
                    <a:pt x="3440683" y="0"/>
                  </a:moveTo>
                  <a:lnTo>
                    <a:pt x="110235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6"/>
                  </a:lnTo>
                  <a:lnTo>
                    <a:pt x="0" y="551180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5" y="661416"/>
                  </a:lnTo>
                  <a:lnTo>
                    <a:pt x="3440683" y="661416"/>
                  </a:lnTo>
                  <a:lnTo>
                    <a:pt x="3483572" y="652746"/>
                  </a:lnTo>
                  <a:lnTo>
                    <a:pt x="3518614" y="629110"/>
                  </a:lnTo>
                  <a:lnTo>
                    <a:pt x="3542250" y="594068"/>
                  </a:lnTo>
                  <a:lnTo>
                    <a:pt x="3550919" y="551180"/>
                  </a:lnTo>
                  <a:lnTo>
                    <a:pt x="3550919" y="110236"/>
                  </a:lnTo>
                  <a:lnTo>
                    <a:pt x="3542250" y="67347"/>
                  </a:lnTo>
                  <a:lnTo>
                    <a:pt x="3518614" y="32305"/>
                  </a:lnTo>
                  <a:lnTo>
                    <a:pt x="3483572" y="8669"/>
                  </a:lnTo>
                  <a:lnTo>
                    <a:pt x="3440683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00088" y="3959351"/>
              <a:ext cx="3550920" cy="661670"/>
            </a:xfrm>
            <a:custGeom>
              <a:avLst/>
              <a:gdLst/>
              <a:ahLst/>
              <a:cxnLst/>
              <a:rect l="l" t="t" r="r" b="b"/>
              <a:pathLst>
                <a:path w="3550920" h="661670">
                  <a:moveTo>
                    <a:pt x="0" y="110236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5" y="0"/>
                  </a:lnTo>
                  <a:lnTo>
                    <a:pt x="3440683" y="0"/>
                  </a:lnTo>
                  <a:lnTo>
                    <a:pt x="3483572" y="8669"/>
                  </a:lnTo>
                  <a:lnTo>
                    <a:pt x="3518614" y="32305"/>
                  </a:lnTo>
                  <a:lnTo>
                    <a:pt x="3542250" y="67347"/>
                  </a:lnTo>
                  <a:lnTo>
                    <a:pt x="3550919" y="110236"/>
                  </a:lnTo>
                  <a:lnTo>
                    <a:pt x="3550919" y="551180"/>
                  </a:lnTo>
                  <a:lnTo>
                    <a:pt x="3542250" y="594068"/>
                  </a:lnTo>
                  <a:lnTo>
                    <a:pt x="3518614" y="629110"/>
                  </a:lnTo>
                  <a:lnTo>
                    <a:pt x="3483572" y="652746"/>
                  </a:lnTo>
                  <a:lnTo>
                    <a:pt x="3440683" y="661416"/>
                  </a:lnTo>
                  <a:lnTo>
                    <a:pt x="110235" y="661416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80"/>
                  </a:lnTo>
                  <a:lnTo>
                    <a:pt x="0" y="110236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50428" y="4127119"/>
            <a:ext cx="142697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-10">
                <a:solidFill>
                  <a:srgbClr val="FFFFFF"/>
                </a:solidFill>
                <a:latin typeface="+mj-lt"/>
                <a:cs typeface="Calibri"/>
              </a:defRPr>
            </a:lvl1pPr>
          </a:lstStyle>
          <a:p>
            <a:r>
              <a:rPr dirty="0"/>
              <a:t>TDABC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735708" y="4848179"/>
            <a:ext cx="2467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  <a:tab pos="299720" algn="l"/>
              </a:tabLst>
            </a:pPr>
            <a:r>
              <a:rPr sz="1800" spc="-10" dirty="0">
                <a:latin typeface="+mj-lt"/>
                <a:cs typeface="Calibri"/>
              </a:rPr>
              <a:t>Fins</a:t>
            </a:r>
            <a:r>
              <a:rPr sz="1800" spc="5" dirty="0">
                <a:latin typeface="+mj-lt"/>
                <a:cs typeface="Calibri"/>
              </a:rPr>
              <a:t> </a:t>
            </a:r>
            <a:r>
              <a:rPr sz="1800" spc="-5" dirty="0">
                <a:latin typeface="+mj-lt"/>
                <a:cs typeface="Calibri"/>
              </a:rPr>
              <a:t>de</a:t>
            </a:r>
            <a:r>
              <a:rPr sz="1800" spc="-10" dirty="0">
                <a:latin typeface="+mj-lt"/>
                <a:cs typeface="Calibri"/>
              </a:rPr>
              <a:t> comparação</a:t>
            </a:r>
            <a:endParaRPr sz="1800" dirty="0">
              <a:latin typeface="+mj-lt"/>
              <a:cs typeface="Calibri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800" spc="-10" dirty="0">
                <a:latin typeface="+mj-lt"/>
                <a:cs typeface="Calibri"/>
              </a:rPr>
              <a:t>Identificação</a:t>
            </a:r>
            <a:r>
              <a:rPr sz="1800" spc="30" dirty="0">
                <a:latin typeface="+mj-lt"/>
                <a:cs typeface="Calibri"/>
              </a:rPr>
              <a:t> </a:t>
            </a:r>
            <a:r>
              <a:rPr sz="1800" spc="-10" dirty="0">
                <a:latin typeface="+mj-lt"/>
                <a:cs typeface="Calibri"/>
              </a:rPr>
              <a:t>de</a:t>
            </a:r>
            <a:r>
              <a:rPr sz="1800" spc="-5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perdas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48588" y="4848179"/>
            <a:ext cx="409949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  <a:tab pos="299720" algn="l"/>
              </a:tabLst>
            </a:pPr>
            <a:r>
              <a:rPr sz="1800" spc="-5" dirty="0">
                <a:latin typeface="+mj-lt"/>
                <a:cs typeface="Calibri"/>
              </a:rPr>
              <a:t>C</a:t>
            </a:r>
            <a:r>
              <a:rPr lang="pt-BR" sz="1800" spc="-5" dirty="0">
                <a:latin typeface="+mj-lt"/>
                <a:cs typeface="Calibri"/>
              </a:rPr>
              <a:t>usto-</a:t>
            </a:r>
            <a:r>
              <a:rPr sz="1800" spc="-5" dirty="0">
                <a:latin typeface="+mj-lt"/>
                <a:cs typeface="Calibri"/>
              </a:rPr>
              <a:t>P</a:t>
            </a:r>
            <a:r>
              <a:rPr lang="pt-BR" sz="1800" spc="-5" dirty="0" err="1">
                <a:latin typeface="+mj-lt"/>
                <a:cs typeface="Calibri"/>
              </a:rPr>
              <a:t>adrão</a:t>
            </a:r>
            <a:r>
              <a:rPr sz="1800" spc="-5" dirty="0">
                <a:latin typeface="+mj-lt"/>
                <a:cs typeface="Calibri"/>
              </a:rPr>
              <a:t>:</a:t>
            </a:r>
            <a:r>
              <a:rPr sz="1800" spc="-20" dirty="0">
                <a:latin typeface="+mj-lt"/>
                <a:cs typeface="Calibri"/>
              </a:rPr>
              <a:t> </a:t>
            </a:r>
            <a:r>
              <a:rPr sz="1800" spc="-10" dirty="0">
                <a:latin typeface="+mj-lt"/>
                <a:cs typeface="Calibri"/>
              </a:rPr>
              <a:t>Matéria-Prima</a:t>
            </a:r>
            <a:endParaRPr sz="1800" dirty="0">
              <a:latin typeface="+mj-lt"/>
              <a:cs typeface="Calibri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800" spc="-10" dirty="0">
                <a:latin typeface="+mj-lt"/>
                <a:cs typeface="Calibri"/>
              </a:rPr>
              <a:t>TDABC:</a:t>
            </a:r>
            <a:r>
              <a:rPr sz="1800" spc="-25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M</a:t>
            </a:r>
            <a:r>
              <a:rPr lang="pt-BR" sz="1800" spc="-15" dirty="0" err="1">
                <a:latin typeface="+mj-lt"/>
                <a:cs typeface="Calibri"/>
              </a:rPr>
              <a:t>ão</a:t>
            </a:r>
            <a:r>
              <a:rPr lang="pt-BR" spc="-15" dirty="0">
                <a:latin typeface="+mj-lt"/>
                <a:cs typeface="Calibri"/>
              </a:rPr>
              <a:t>-</a:t>
            </a:r>
            <a:r>
              <a:rPr lang="pt-BR" sz="1800" spc="-15" dirty="0">
                <a:latin typeface="+mj-lt"/>
                <a:cs typeface="Calibri"/>
              </a:rPr>
              <a:t>de-</a:t>
            </a:r>
            <a:r>
              <a:rPr sz="1800" spc="-15" dirty="0">
                <a:latin typeface="+mj-lt"/>
                <a:cs typeface="Calibri"/>
              </a:rPr>
              <a:t>O</a:t>
            </a:r>
            <a:r>
              <a:rPr lang="pt-BR" spc="-15" dirty="0" err="1">
                <a:latin typeface="+mj-lt"/>
                <a:cs typeface="Calibri"/>
              </a:rPr>
              <a:t>bra</a:t>
            </a:r>
            <a:r>
              <a:rPr sz="1800" spc="-15" dirty="0">
                <a:latin typeface="+mj-lt"/>
                <a:cs typeface="Calibri"/>
              </a:rPr>
              <a:t>,</a:t>
            </a:r>
            <a:r>
              <a:rPr sz="1800" spc="-20" dirty="0">
                <a:latin typeface="+mj-lt"/>
                <a:cs typeface="Calibri"/>
              </a:rPr>
              <a:t> </a:t>
            </a:r>
            <a:r>
              <a:rPr sz="1800" spc="-15" dirty="0">
                <a:latin typeface="+mj-lt"/>
                <a:cs typeface="Calibri"/>
              </a:rPr>
              <a:t>Infraestrutura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34" name="Espaço Reservado para Rodapé 33">
            <a:extLst>
              <a:ext uri="{FF2B5EF4-FFF2-40B4-BE49-F238E27FC236}">
                <a16:creationId xmlns:a16="http://schemas.microsoft.com/office/drawing/2014/main" id="{DFD6C710-ED20-69E2-BF4B-69EC20BFEB0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35" name="Espaço Reservado para Data 34">
            <a:extLst>
              <a:ext uri="{FF2B5EF4-FFF2-40B4-BE49-F238E27FC236}">
                <a16:creationId xmlns:a16="http://schemas.microsoft.com/office/drawing/2014/main" id="{F45D4F39-93CB-DF34-8174-2C1E61FB1CD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02018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243" y="2355800"/>
            <a:ext cx="2142744" cy="21427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644587" y="4754576"/>
            <a:ext cx="1969135" cy="673735"/>
            <a:chOff x="981455" y="4931664"/>
            <a:chExt cx="1969135" cy="673735"/>
          </a:xfrm>
        </p:grpSpPr>
        <p:sp>
          <p:nvSpPr>
            <p:cNvPr id="5" name="object 5"/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57032" y="4928769"/>
            <a:ext cx="119576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FFFFFF"/>
                </a:solidFill>
                <a:latin typeface="Times New Roman (Títulos)"/>
                <a:cs typeface="Calibri"/>
              </a:rPr>
              <a:t>E</a:t>
            </a:r>
            <a:r>
              <a:rPr sz="2000" spc="-35" dirty="0">
                <a:solidFill>
                  <a:srgbClr val="FFFFFF"/>
                </a:solidFill>
                <a:latin typeface="Times New Roman (Títulos)"/>
                <a:cs typeface="Calibri"/>
              </a:rPr>
              <a:t>n</a:t>
            </a:r>
            <a:r>
              <a:rPr sz="2000" dirty="0">
                <a:solidFill>
                  <a:srgbClr val="FFFFFF"/>
                </a:solidFill>
                <a:latin typeface="Times New Roman (Títulos)"/>
                <a:cs typeface="Calibri"/>
              </a:rPr>
              <a:t>t</a:t>
            </a:r>
            <a:r>
              <a:rPr sz="2000" spc="-35" dirty="0">
                <a:solidFill>
                  <a:srgbClr val="FFFFFF"/>
                </a:solidFill>
                <a:latin typeface="Times New Roman (Títulos)"/>
                <a:cs typeface="Calibri"/>
              </a:rPr>
              <a:t>r</a:t>
            </a:r>
            <a:r>
              <a:rPr sz="2000" spc="-10" dirty="0">
                <a:solidFill>
                  <a:srgbClr val="FFFFFF"/>
                </a:solidFill>
                <a:latin typeface="Times New Roman (Títulos)"/>
                <a:cs typeface="Calibri"/>
              </a:rPr>
              <a:t>e</a:t>
            </a:r>
            <a:r>
              <a:rPr sz="2000" dirty="0">
                <a:solidFill>
                  <a:srgbClr val="FFFFFF"/>
                </a:solidFill>
                <a:latin typeface="Times New Roman (Títulos)"/>
                <a:cs typeface="Calibri"/>
              </a:rPr>
              <a:t>vi</a:t>
            </a:r>
            <a:r>
              <a:rPr sz="2000" spc="-40" dirty="0">
                <a:solidFill>
                  <a:srgbClr val="FFFFFF"/>
                </a:solidFill>
                <a:latin typeface="Times New Roman (Títulos)"/>
                <a:cs typeface="Calibri"/>
              </a:rPr>
              <a:t>s</a:t>
            </a:r>
            <a:r>
              <a:rPr sz="2000" spc="-30" dirty="0">
                <a:solidFill>
                  <a:srgbClr val="FFFFFF"/>
                </a:solidFill>
                <a:latin typeface="Times New Roman (Títulos)"/>
                <a:cs typeface="Calibri"/>
              </a:rPr>
              <a:t>t</a:t>
            </a:r>
            <a:r>
              <a:rPr sz="2000" dirty="0">
                <a:solidFill>
                  <a:srgbClr val="FFFFFF"/>
                </a:solidFill>
                <a:latin typeface="Times New Roman (Títulos)"/>
                <a:cs typeface="Calibri"/>
              </a:rPr>
              <a:t>a</a:t>
            </a:r>
            <a:endParaRPr sz="1800" dirty="0">
              <a:latin typeface="Times New Roman (Títulos)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70399" y="4760672"/>
            <a:ext cx="2179319" cy="673735"/>
            <a:chOff x="3602735" y="4931664"/>
            <a:chExt cx="1965960" cy="673735"/>
          </a:xfrm>
        </p:grpSpPr>
        <p:sp>
          <p:nvSpPr>
            <p:cNvPr id="10" name="object 10"/>
            <p:cNvSpPr/>
            <p:nvPr/>
          </p:nvSpPr>
          <p:spPr>
            <a:xfrm>
              <a:off x="3608831" y="4937760"/>
              <a:ext cx="1953895" cy="661670"/>
            </a:xfrm>
            <a:custGeom>
              <a:avLst/>
              <a:gdLst/>
              <a:ahLst/>
              <a:cxnLst/>
              <a:rect l="l" t="t" r="r" b="b"/>
              <a:pathLst>
                <a:path w="1953895" h="661670">
                  <a:moveTo>
                    <a:pt x="1843531" y="0"/>
                  </a:moveTo>
                  <a:lnTo>
                    <a:pt x="110235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5" y="661415"/>
                  </a:lnTo>
                  <a:lnTo>
                    <a:pt x="1843531" y="661415"/>
                  </a:lnTo>
                  <a:lnTo>
                    <a:pt x="1886420" y="652746"/>
                  </a:lnTo>
                  <a:lnTo>
                    <a:pt x="1921462" y="629110"/>
                  </a:lnTo>
                  <a:lnTo>
                    <a:pt x="1945098" y="594068"/>
                  </a:lnTo>
                  <a:lnTo>
                    <a:pt x="1953767" y="551179"/>
                  </a:lnTo>
                  <a:lnTo>
                    <a:pt x="1953767" y="110235"/>
                  </a:lnTo>
                  <a:lnTo>
                    <a:pt x="1945098" y="67347"/>
                  </a:lnTo>
                  <a:lnTo>
                    <a:pt x="1921462" y="32305"/>
                  </a:lnTo>
                  <a:lnTo>
                    <a:pt x="1886420" y="8669"/>
                  </a:lnTo>
                  <a:lnTo>
                    <a:pt x="1843531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8831" y="4937760"/>
              <a:ext cx="1953895" cy="661670"/>
            </a:xfrm>
            <a:custGeom>
              <a:avLst/>
              <a:gdLst/>
              <a:ahLst/>
              <a:cxnLst/>
              <a:rect l="l" t="t" r="r" b="b"/>
              <a:pathLst>
                <a:path w="1953895" h="661670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5" y="0"/>
                  </a:lnTo>
                  <a:lnTo>
                    <a:pt x="1843531" y="0"/>
                  </a:lnTo>
                  <a:lnTo>
                    <a:pt x="1886420" y="8669"/>
                  </a:lnTo>
                  <a:lnTo>
                    <a:pt x="1921462" y="32305"/>
                  </a:lnTo>
                  <a:lnTo>
                    <a:pt x="1945098" y="67347"/>
                  </a:lnTo>
                  <a:lnTo>
                    <a:pt x="1953767" y="110235"/>
                  </a:lnTo>
                  <a:lnTo>
                    <a:pt x="1953767" y="551179"/>
                  </a:lnTo>
                  <a:lnTo>
                    <a:pt x="1945098" y="594068"/>
                  </a:lnTo>
                  <a:lnTo>
                    <a:pt x="1921462" y="629110"/>
                  </a:lnTo>
                  <a:lnTo>
                    <a:pt x="1886420" y="652746"/>
                  </a:lnTo>
                  <a:lnTo>
                    <a:pt x="1843531" y="661415"/>
                  </a:lnTo>
                  <a:lnTo>
                    <a:pt x="110235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19041" y="4931206"/>
            <a:ext cx="11341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5">
                <a:solidFill>
                  <a:srgbClr val="FFFFFF"/>
                </a:solidFill>
                <a:latin typeface="Times New Roman (Títulos)"/>
                <a:cs typeface="Calibri"/>
              </a:defRPr>
            </a:lvl1pPr>
          </a:lstStyle>
          <a:p>
            <a:r>
              <a:rPr dirty="0" err="1"/>
              <a:t>Histórico</a:t>
            </a:r>
            <a:endParaRPr dirty="0"/>
          </a:p>
        </p:txBody>
      </p:sp>
      <p:grpSp>
        <p:nvGrpSpPr>
          <p:cNvPr id="14" name="object 14"/>
          <p:cNvGrpSpPr/>
          <p:nvPr/>
        </p:nvGrpSpPr>
        <p:grpSpPr>
          <a:xfrm>
            <a:off x="8488868" y="4748607"/>
            <a:ext cx="1969135" cy="673735"/>
            <a:chOff x="6220967" y="4931664"/>
            <a:chExt cx="1969135" cy="673735"/>
          </a:xfrm>
        </p:grpSpPr>
        <p:sp>
          <p:nvSpPr>
            <p:cNvPr id="15" name="object 15"/>
            <p:cNvSpPr/>
            <p:nvPr/>
          </p:nvSpPr>
          <p:spPr>
            <a:xfrm>
              <a:off x="6227063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80" y="0"/>
                  </a:moveTo>
                  <a:lnTo>
                    <a:pt x="110236" y="0"/>
                  </a:lnTo>
                  <a:lnTo>
                    <a:pt x="67347" y="8669"/>
                  </a:lnTo>
                  <a:lnTo>
                    <a:pt x="32305" y="32305"/>
                  </a:lnTo>
                  <a:lnTo>
                    <a:pt x="8669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9" y="594068"/>
                  </a:lnTo>
                  <a:lnTo>
                    <a:pt x="32305" y="629110"/>
                  </a:lnTo>
                  <a:lnTo>
                    <a:pt x="67347" y="652746"/>
                  </a:lnTo>
                  <a:lnTo>
                    <a:pt x="110236" y="661415"/>
                  </a:lnTo>
                  <a:lnTo>
                    <a:pt x="1846580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8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27063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9" y="67347"/>
                  </a:lnTo>
                  <a:lnTo>
                    <a:pt x="32305" y="32305"/>
                  </a:lnTo>
                  <a:lnTo>
                    <a:pt x="67347" y="8669"/>
                  </a:lnTo>
                  <a:lnTo>
                    <a:pt x="110236" y="0"/>
                  </a:lnTo>
                  <a:lnTo>
                    <a:pt x="1846580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80" y="661415"/>
                  </a:lnTo>
                  <a:lnTo>
                    <a:pt x="110236" y="661415"/>
                  </a:lnTo>
                  <a:lnTo>
                    <a:pt x="67347" y="652746"/>
                  </a:lnTo>
                  <a:lnTo>
                    <a:pt x="32305" y="629110"/>
                  </a:lnTo>
                  <a:lnTo>
                    <a:pt x="8669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038029" y="4922799"/>
            <a:ext cx="111873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000" spc="5">
                <a:solidFill>
                  <a:srgbClr val="FFFFFF"/>
                </a:solidFill>
                <a:latin typeface="Times New Roman (Títulos)"/>
                <a:cs typeface="Calibri"/>
              </a:defRPr>
            </a:lvl1pPr>
          </a:lstStyle>
          <a:p>
            <a:r>
              <a:rPr lang="pt-BR" dirty="0"/>
              <a:t>Duração</a:t>
            </a:r>
            <a:endParaRPr dirty="0"/>
          </a:p>
        </p:txBody>
      </p:sp>
      <p:grpSp>
        <p:nvGrpSpPr>
          <p:cNvPr id="18" name="object 18"/>
          <p:cNvGrpSpPr/>
          <p:nvPr/>
        </p:nvGrpSpPr>
        <p:grpSpPr>
          <a:xfrm>
            <a:off x="531863" y="1238518"/>
            <a:ext cx="10713720" cy="396904"/>
            <a:chOff x="548640" y="1207007"/>
            <a:chExt cx="10713720" cy="396904"/>
          </a:xfrm>
        </p:grpSpPr>
        <p:sp>
          <p:nvSpPr>
            <p:cNvPr id="19" name="object 19"/>
            <p:cNvSpPr/>
            <p:nvPr/>
          </p:nvSpPr>
          <p:spPr>
            <a:xfrm>
              <a:off x="548640" y="1207007"/>
              <a:ext cx="10713720" cy="661670"/>
            </a:xfrm>
            <a:custGeom>
              <a:avLst/>
              <a:gdLst/>
              <a:ahLst/>
              <a:cxnLst/>
              <a:rect l="l" t="t" r="r" b="b"/>
              <a:pathLst>
                <a:path w="10713720" h="661669">
                  <a:moveTo>
                    <a:pt x="10603484" y="0"/>
                  </a:moveTo>
                  <a:lnTo>
                    <a:pt x="110236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6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6" y="661415"/>
                  </a:lnTo>
                  <a:lnTo>
                    <a:pt x="10603484" y="661415"/>
                  </a:lnTo>
                  <a:lnTo>
                    <a:pt x="10646372" y="652746"/>
                  </a:lnTo>
                  <a:lnTo>
                    <a:pt x="10681414" y="629110"/>
                  </a:lnTo>
                  <a:lnTo>
                    <a:pt x="10705050" y="594068"/>
                  </a:lnTo>
                  <a:lnTo>
                    <a:pt x="10713719" y="551179"/>
                  </a:lnTo>
                  <a:lnTo>
                    <a:pt x="10713719" y="110236"/>
                  </a:lnTo>
                  <a:lnTo>
                    <a:pt x="10705050" y="67347"/>
                  </a:lnTo>
                  <a:lnTo>
                    <a:pt x="10681414" y="32305"/>
                  </a:lnTo>
                  <a:lnTo>
                    <a:pt x="10646372" y="8669"/>
                  </a:lnTo>
                  <a:lnTo>
                    <a:pt x="10603484" y="0"/>
                  </a:lnTo>
                  <a:close/>
                </a:path>
              </a:pathLst>
            </a:custGeom>
            <a:solidFill>
              <a:srgbClr val="DAE2F3"/>
            </a:solidFill>
            <a:ln w="6096">
              <a:solidFill>
                <a:srgbClr val="4471C4"/>
              </a:solidFill>
            </a:ln>
          </p:spPr>
          <p:txBody>
            <a:bodyPr vert="horz" wrap="square" lIns="0" tIns="27305" rIns="0" bIns="0" rtlCol="0">
              <a:spAutoFit/>
            </a:bodyPr>
            <a:lstStyle/>
            <a:p>
              <a:pPr marL="91440">
                <a:spcBef>
                  <a:spcPts val="215"/>
                </a:spcBef>
              </a:pPr>
              <a:endParaRPr sz="2400" b="1" spc="-10">
                <a:latin typeface="+mj-lt"/>
                <a:cs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48640" y="1207007"/>
              <a:ext cx="10713720" cy="661670"/>
            </a:xfrm>
            <a:custGeom>
              <a:avLst/>
              <a:gdLst/>
              <a:ahLst/>
              <a:cxnLst/>
              <a:rect l="l" t="t" r="r" b="b"/>
              <a:pathLst>
                <a:path w="10713720" h="661669">
                  <a:moveTo>
                    <a:pt x="0" y="110236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6" y="0"/>
                  </a:lnTo>
                  <a:lnTo>
                    <a:pt x="10603484" y="0"/>
                  </a:lnTo>
                  <a:lnTo>
                    <a:pt x="10646372" y="8669"/>
                  </a:lnTo>
                  <a:lnTo>
                    <a:pt x="10681414" y="32305"/>
                  </a:lnTo>
                  <a:lnTo>
                    <a:pt x="10705050" y="67347"/>
                  </a:lnTo>
                  <a:lnTo>
                    <a:pt x="10713719" y="110236"/>
                  </a:lnTo>
                  <a:lnTo>
                    <a:pt x="10713719" y="551179"/>
                  </a:lnTo>
                  <a:lnTo>
                    <a:pt x="10705050" y="594068"/>
                  </a:lnTo>
                  <a:lnTo>
                    <a:pt x="10681414" y="629110"/>
                  </a:lnTo>
                  <a:lnTo>
                    <a:pt x="10646372" y="652746"/>
                  </a:lnTo>
                  <a:lnTo>
                    <a:pt x="10603484" y="661415"/>
                  </a:lnTo>
                  <a:lnTo>
                    <a:pt x="110236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6"/>
                  </a:lnTo>
                  <a:close/>
                </a:path>
              </a:pathLst>
            </a:custGeom>
            <a:solidFill>
              <a:srgbClr val="DAE2F3"/>
            </a:solidFill>
            <a:ln w="6096">
              <a:solidFill>
                <a:srgbClr val="4471C4"/>
              </a:solidFill>
            </a:ln>
          </p:spPr>
          <p:txBody>
            <a:bodyPr vert="horz" wrap="square" lIns="0" tIns="27305" rIns="0" bIns="0" rtlCol="0">
              <a:spAutoFit/>
            </a:bodyPr>
            <a:lstStyle/>
            <a:p>
              <a:pPr marL="91440">
                <a:spcBef>
                  <a:spcPts val="215"/>
                </a:spcBef>
              </a:pPr>
              <a:endParaRPr sz="2400" b="1" spc="-10">
                <a:latin typeface="+mj-lt"/>
                <a:cs typeface="Calibri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8200" y="1399082"/>
            <a:ext cx="596940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 err="1">
                <a:latin typeface="+mj-lt"/>
                <a:cs typeface="Calibri"/>
              </a:rPr>
              <a:t>Levantamento</a:t>
            </a:r>
            <a:r>
              <a:rPr sz="2400" b="1" spc="45" dirty="0">
                <a:latin typeface="+mj-lt"/>
                <a:cs typeface="Calibri"/>
              </a:rPr>
              <a:t> </a:t>
            </a:r>
            <a:r>
              <a:rPr sz="2400" b="1" spc="-5" dirty="0">
                <a:latin typeface="+mj-lt"/>
                <a:cs typeface="Calibri"/>
              </a:rPr>
              <a:t>d</a:t>
            </a:r>
            <a:r>
              <a:rPr lang="pt-BR" sz="2400" b="1" spc="-5" dirty="0">
                <a:latin typeface="+mj-lt"/>
                <a:cs typeface="Calibri"/>
              </a:rPr>
              <a:t>e dados e informações</a:t>
            </a:r>
            <a:endParaRPr sz="2400" b="1" dirty="0">
              <a:latin typeface="+mj-lt"/>
              <a:cs typeface="Calibri"/>
            </a:endParaRPr>
          </a:p>
        </p:txBody>
      </p:sp>
      <p:sp>
        <p:nvSpPr>
          <p:cNvPr id="31" name="Espaço Reservado para Número de Slide 30">
            <a:extLst>
              <a:ext uri="{FF2B5EF4-FFF2-40B4-BE49-F238E27FC236}">
                <a16:creationId xmlns:a16="http://schemas.microsoft.com/office/drawing/2014/main" id="{FD169F0D-9C08-6F49-F35B-4570596871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12</a:t>
            </a:fld>
            <a:endParaRPr lang="pt-BR" dirty="0"/>
          </a:p>
        </p:txBody>
      </p:sp>
      <p:sp>
        <p:nvSpPr>
          <p:cNvPr id="32" name="Espaço Reservado para Rodapé 31">
            <a:extLst>
              <a:ext uri="{FF2B5EF4-FFF2-40B4-BE49-F238E27FC236}">
                <a16:creationId xmlns:a16="http://schemas.microsoft.com/office/drawing/2014/main" id="{24C0A668-D5FC-B9DB-04CE-194F76AD38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33" name="Espaço Reservado para Data 32">
            <a:extLst>
              <a:ext uri="{FF2B5EF4-FFF2-40B4-BE49-F238E27FC236}">
                <a16:creationId xmlns:a16="http://schemas.microsoft.com/office/drawing/2014/main" id="{53F23AEF-C359-249B-983A-C328F91526B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BE7B225B-45D4-144F-6C66-4B309628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710" y="2267181"/>
            <a:ext cx="2326004" cy="2326004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06DBAC22-1451-BE71-1835-4C7956684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118" y="2320347"/>
            <a:ext cx="2198377" cy="2198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>
            <a:extLst>
              <a:ext uri="{FF2B5EF4-FFF2-40B4-BE49-F238E27FC236}">
                <a16:creationId xmlns:a16="http://schemas.microsoft.com/office/drawing/2014/main" id="{0F15A304-E844-3138-51D8-03FF47228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10" y="1348762"/>
            <a:ext cx="10137667" cy="5350435"/>
          </a:xfrm>
          <a:prstGeom prst="rect">
            <a:avLst/>
          </a:prstGeom>
        </p:spPr>
      </p:pic>
      <p:grpSp>
        <p:nvGrpSpPr>
          <p:cNvPr id="9" name="object 18">
            <a:extLst>
              <a:ext uri="{FF2B5EF4-FFF2-40B4-BE49-F238E27FC236}">
                <a16:creationId xmlns:a16="http://schemas.microsoft.com/office/drawing/2014/main" id="{422D29B6-6AD4-9F03-56EA-F97031BCD6D9}"/>
              </a:ext>
            </a:extLst>
          </p:cNvPr>
          <p:cNvGrpSpPr/>
          <p:nvPr/>
        </p:nvGrpSpPr>
        <p:grpSpPr>
          <a:xfrm>
            <a:off x="627684" y="1061686"/>
            <a:ext cx="10713720" cy="243544"/>
            <a:chOff x="548640" y="1207007"/>
            <a:chExt cx="10713720" cy="396904"/>
          </a:xfrm>
          <a:solidFill>
            <a:srgbClr val="DAE2F3"/>
          </a:solidFill>
        </p:grpSpPr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DD773F5E-EA75-5AAF-3162-220F77ECA0C9}"/>
                </a:ext>
              </a:extLst>
            </p:cNvPr>
            <p:cNvSpPr/>
            <p:nvPr/>
          </p:nvSpPr>
          <p:spPr>
            <a:xfrm>
              <a:off x="548640" y="1207007"/>
              <a:ext cx="10713720" cy="661670"/>
            </a:xfrm>
            <a:custGeom>
              <a:avLst/>
              <a:gdLst/>
              <a:ahLst/>
              <a:cxnLst/>
              <a:rect l="l" t="t" r="r" b="b"/>
              <a:pathLst>
                <a:path w="10713720" h="661669">
                  <a:moveTo>
                    <a:pt x="10603484" y="0"/>
                  </a:moveTo>
                  <a:lnTo>
                    <a:pt x="110236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6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6" y="661415"/>
                  </a:lnTo>
                  <a:lnTo>
                    <a:pt x="10603484" y="661415"/>
                  </a:lnTo>
                  <a:lnTo>
                    <a:pt x="10646372" y="652746"/>
                  </a:lnTo>
                  <a:lnTo>
                    <a:pt x="10681414" y="629110"/>
                  </a:lnTo>
                  <a:lnTo>
                    <a:pt x="10705050" y="594068"/>
                  </a:lnTo>
                  <a:lnTo>
                    <a:pt x="10713719" y="551179"/>
                  </a:lnTo>
                  <a:lnTo>
                    <a:pt x="10713719" y="110236"/>
                  </a:lnTo>
                  <a:lnTo>
                    <a:pt x="10705050" y="67347"/>
                  </a:lnTo>
                  <a:lnTo>
                    <a:pt x="10681414" y="32305"/>
                  </a:lnTo>
                  <a:lnTo>
                    <a:pt x="10646372" y="8669"/>
                  </a:lnTo>
                  <a:lnTo>
                    <a:pt x="10603484" y="0"/>
                  </a:lnTo>
                  <a:close/>
                </a:path>
              </a:pathLst>
            </a:custGeom>
            <a:grpFill/>
            <a:ln w="6096">
              <a:solidFill>
                <a:srgbClr val="4471C4"/>
              </a:solidFill>
            </a:ln>
          </p:spPr>
          <p:txBody>
            <a:bodyPr vert="horz" wrap="square" lIns="0" tIns="27305" rIns="0" bIns="0" rtlCol="0">
              <a:spAutoFit/>
            </a:bodyPr>
            <a:lstStyle/>
            <a:p>
              <a:pPr marL="91440">
                <a:spcBef>
                  <a:spcPts val="215"/>
                </a:spcBef>
              </a:pPr>
              <a:endParaRPr sz="2400" b="1" spc="-10">
                <a:latin typeface="+mj-lt"/>
                <a:cs typeface="Calibri"/>
              </a:endParaRPr>
            </a:p>
          </p:txBody>
        </p: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C85813A5-CBAB-F788-42A6-F7F85C7472E6}"/>
                </a:ext>
              </a:extLst>
            </p:cNvPr>
            <p:cNvSpPr/>
            <p:nvPr/>
          </p:nvSpPr>
          <p:spPr>
            <a:xfrm>
              <a:off x="548640" y="1207007"/>
              <a:ext cx="10713720" cy="661670"/>
            </a:xfrm>
            <a:custGeom>
              <a:avLst/>
              <a:gdLst/>
              <a:ahLst/>
              <a:cxnLst/>
              <a:rect l="l" t="t" r="r" b="b"/>
              <a:pathLst>
                <a:path w="10713720" h="661669">
                  <a:moveTo>
                    <a:pt x="0" y="110236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6" y="0"/>
                  </a:lnTo>
                  <a:lnTo>
                    <a:pt x="10603484" y="0"/>
                  </a:lnTo>
                  <a:lnTo>
                    <a:pt x="10646372" y="8669"/>
                  </a:lnTo>
                  <a:lnTo>
                    <a:pt x="10681414" y="32305"/>
                  </a:lnTo>
                  <a:lnTo>
                    <a:pt x="10705050" y="67347"/>
                  </a:lnTo>
                  <a:lnTo>
                    <a:pt x="10713719" y="110236"/>
                  </a:lnTo>
                  <a:lnTo>
                    <a:pt x="10713719" y="551179"/>
                  </a:lnTo>
                  <a:lnTo>
                    <a:pt x="10705050" y="594068"/>
                  </a:lnTo>
                  <a:lnTo>
                    <a:pt x="10681414" y="629110"/>
                  </a:lnTo>
                  <a:lnTo>
                    <a:pt x="10646372" y="652746"/>
                  </a:lnTo>
                  <a:lnTo>
                    <a:pt x="10603484" y="661415"/>
                  </a:lnTo>
                  <a:lnTo>
                    <a:pt x="110236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6"/>
                  </a:lnTo>
                  <a:close/>
                </a:path>
              </a:pathLst>
            </a:custGeom>
            <a:grpFill/>
            <a:ln w="6096">
              <a:solidFill>
                <a:srgbClr val="4471C4"/>
              </a:solidFill>
            </a:ln>
          </p:spPr>
          <p:txBody>
            <a:bodyPr vert="horz" wrap="square" lIns="0" tIns="27305" rIns="0" bIns="0" rtlCol="0">
              <a:spAutoFit/>
            </a:bodyPr>
            <a:lstStyle/>
            <a:p>
              <a:pPr marL="91440">
                <a:spcBef>
                  <a:spcPts val="215"/>
                </a:spcBef>
              </a:pPr>
              <a:endParaRPr sz="2400" b="1" spc="-10">
                <a:latin typeface="+mj-lt"/>
                <a:cs typeface="Calibri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0" name="object 6">
            <a:extLst>
              <a:ext uri="{FF2B5EF4-FFF2-40B4-BE49-F238E27FC236}">
                <a16:creationId xmlns:a16="http://schemas.microsoft.com/office/drawing/2014/main" id="{23295046-D5D8-B4C7-DCF0-DD33DAD01ACA}"/>
              </a:ext>
            </a:extLst>
          </p:cNvPr>
          <p:cNvSpPr txBox="1"/>
          <p:nvPr/>
        </p:nvSpPr>
        <p:spPr>
          <a:xfrm>
            <a:off x="825196" y="1103969"/>
            <a:ext cx="447771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pt-BR"/>
            </a:defPPr>
            <a:lvl1pPr marL="12700">
              <a:lnSpc>
                <a:spcPct val="100000"/>
              </a:lnSpc>
              <a:spcBef>
                <a:spcPts val="100"/>
              </a:spcBef>
              <a:defRPr sz="2400" b="1" spc="-15">
                <a:latin typeface="+mj-lt"/>
                <a:cs typeface="Calibri"/>
              </a:defRPr>
            </a:lvl1pPr>
          </a:lstStyle>
          <a:p>
            <a:r>
              <a:rPr dirty="0"/>
              <a:t>Etapas e Fases de </a:t>
            </a:r>
            <a:r>
              <a:rPr lang="pt-BR" dirty="0"/>
              <a:t>E</a:t>
            </a:r>
            <a:r>
              <a:rPr dirty="0" err="1"/>
              <a:t>xecução</a:t>
            </a:r>
            <a:endParaRPr dirty="0"/>
          </a:p>
        </p:txBody>
      </p:sp>
      <p:sp>
        <p:nvSpPr>
          <p:cNvPr id="31" name="object 2">
            <a:extLst>
              <a:ext uri="{FF2B5EF4-FFF2-40B4-BE49-F238E27FC236}">
                <a16:creationId xmlns:a16="http://schemas.microsoft.com/office/drawing/2014/main" id="{8496EB03-309A-0457-0D82-BFFFAE8AE86B}"/>
              </a:ext>
            </a:extLst>
          </p:cNvPr>
          <p:cNvSpPr txBox="1"/>
          <p:nvPr/>
        </p:nvSpPr>
        <p:spPr>
          <a:xfrm>
            <a:off x="627684" y="376174"/>
            <a:ext cx="6458918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32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Cronograma</a:t>
            </a:r>
            <a:r>
              <a:rPr sz="3200" b="1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sz="32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Pesquisa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49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DFDEE50-03DA-DAE0-60B8-8FD0F608050D}"/>
              </a:ext>
            </a:extLst>
          </p:cNvPr>
          <p:cNvSpPr txBox="1"/>
          <p:nvPr/>
        </p:nvSpPr>
        <p:spPr>
          <a:xfrm>
            <a:off x="3373679" y="2545665"/>
            <a:ext cx="4333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Levantamento dos dados</a:t>
            </a:r>
          </a:p>
        </p:txBody>
      </p:sp>
      <p:grpSp>
        <p:nvGrpSpPr>
          <p:cNvPr id="9" name="object 4">
            <a:extLst>
              <a:ext uri="{FF2B5EF4-FFF2-40B4-BE49-F238E27FC236}">
                <a16:creationId xmlns:a16="http://schemas.microsoft.com/office/drawing/2014/main" id="{776FA54F-D9F4-7163-8A75-0AADA1649E56}"/>
              </a:ext>
            </a:extLst>
          </p:cNvPr>
          <p:cNvGrpSpPr/>
          <p:nvPr/>
        </p:nvGrpSpPr>
        <p:grpSpPr>
          <a:xfrm>
            <a:off x="633780" y="1128775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D6FD5AE6-C5C2-6496-D32A-E65955033CAD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883CB224-0C21-3DD0-4E05-B484C3C65E90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1</a:t>
              </a:r>
              <a:endParaRPr sz="3200" dirty="0"/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856BFF9B-858E-D61E-A302-2E0A4FBA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756" y="3315032"/>
            <a:ext cx="4927419" cy="1493745"/>
          </a:xfrm>
          <a:prstGeom prst="rect">
            <a:avLst/>
          </a:prstGeom>
        </p:spPr>
      </p:pic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EBCAFC86-1487-9309-EDB1-F9F1B8CE1F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8F3865C9-C807-B866-B453-F4846E21A32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</p:spTree>
    <p:extLst>
      <p:ext uri="{BB962C8B-B14F-4D97-AF65-F5344CB8AC3E}">
        <p14:creationId xmlns:p14="http://schemas.microsoft.com/office/powerpoint/2010/main" val="2880988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C9968B-672F-851B-A3F7-01AD4E9A2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491" y="2457653"/>
            <a:ext cx="5943600" cy="3276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DFDEE50-03DA-DAE0-60B8-8FD0F608050D}"/>
              </a:ext>
            </a:extLst>
          </p:cNvPr>
          <p:cNvSpPr txBox="1"/>
          <p:nvPr/>
        </p:nvSpPr>
        <p:spPr>
          <a:xfrm>
            <a:off x="629500" y="1869663"/>
            <a:ext cx="3922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Custos Fixos e Custos Variáveis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35CFE7D2-5BEA-ABE1-6027-0E9FFCABFE5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49818A9A-7BBF-4F82-9DC7-E86CE2C9CCF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6" name="object 4">
            <a:extLst>
              <a:ext uri="{FF2B5EF4-FFF2-40B4-BE49-F238E27FC236}">
                <a16:creationId xmlns:a16="http://schemas.microsoft.com/office/drawing/2014/main" id="{330E741A-CC9A-1398-5270-B47D50221B90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FB22147A-EB60-7464-09CB-A7B9D513FC73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0CE97876-E9E7-41F9-76F1-6AE978747C95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1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3674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1CA55E-B0ED-B473-CD46-C1B846A52F69}"/>
              </a:ext>
            </a:extLst>
          </p:cNvPr>
          <p:cNvSpPr txBox="1"/>
          <p:nvPr/>
        </p:nvSpPr>
        <p:spPr>
          <a:xfrm>
            <a:off x="627684" y="1881376"/>
            <a:ext cx="407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Valores de depreciação mensal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0EEC99-B180-A6EB-005F-63F786905F4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2D2978C5-1DBD-7631-897D-84079D6994F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60921862-99E5-6FBE-171D-9FD4E9EC94B0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1BA331FB-7026-6061-7EEF-2600359FC268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FD4E6B6E-F7FE-FD99-C2D1-D50E3D15AC23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1</a:t>
              </a:r>
              <a:endParaRPr sz="3200" dirty="0"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786D1E-7864-30BE-27D6-E8AF180888C7}"/>
              </a:ext>
            </a:extLst>
          </p:cNvPr>
          <p:cNvSpPr txBox="1"/>
          <p:nvPr/>
        </p:nvSpPr>
        <p:spPr>
          <a:xfrm>
            <a:off x="4114800" y="5074100"/>
            <a:ext cx="3467100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>
                <a:highlight>
                  <a:srgbClr val="FFFF00"/>
                </a:highlight>
              </a:rPr>
              <a:t>Custo Total = R$ 3160,30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5FF00F1-5727-7535-C047-6D769805A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681115"/>
              </p:ext>
            </p:extLst>
          </p:nvPr>
        </p:nvGraphicFramePr>
        <p:xfrm>
          <a:off x="1985003" y="2746179"/>
          <a:ext cx="7726694" cy="1799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229">
                  <a:extLst>
                    <a:ext uri="{9D8B030D-6E8A-4147-A177-3AD203B41FA5}">
                      <a16:colId xmlns:a16="http://schemas.microsoft.com/office/drawing/2014/main" val="3833115789"/>
                    </a:ext>
                  </a:extLst>
                </a:gridCol>
                <a:gridCol w="1472576">
                  <a:extLst>
                    <a:ext uri="{9D8B030D-6E8A-4147-A177-3AD203B41FA5}">
                      <a16:colId xmlns:a16="http://schemas.microsoft.com/office/drawing/2014/main" val="695225075"/>
                    </a:ext>
                  </a:extLst>
                </a:gridCol>
                <a:gridCol w="2148229">
                  <a:extLst>
                    <a:ext uri="{9D8B030D-6E8A-4147-A177-3AD203B41FA5}">
                      <a16:colId xmlns:a16="http://schemas.microsoft.com/office/drawing/2014/main" val="3587388761"/>
                    </a:ext>
                  </a:extLst>
                </a:gridCol>
                <a:gridCol w="1957660">
                  <a:extLst>
                    <a:ext uri="{9D8B030D-6E8A-4147-A177-3AD203B41FA5}">
                      <a16:colId xmlns:a16="http://schemas.microsoft.com/office/drawing/2014/main" val="268979208"/>
                    </a:ext>
                  </a:extLst>
                </a:gridCol>
              </a:tblGrid>
              <a:tr h="2999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Item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Preço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Vida Útil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Depreciação Mensal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800785"/>
                  </a:ext>
                </a:extLst>
              </a:tr>
              <a:tr h="2999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Maca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 R$           999,00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10 meses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 R$                      99,90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238845"/>
                  </a:ext>
                </a:extLst>
              </a:tr>
              <a:tr h="2999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Jaleco de estética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 R$           359,90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6 meses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 R$                      59,98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030675"/>
                  </a:ext>
                </a:extLst>
              </a:tr>
              <a:tr h="2999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Ring Light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 R$           249,90 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1 ano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 R$                      20,83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013311"/>
                  </a:ext>
                </a:extLst>
              </a:tr>
              <a:tr h="2999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Cafeteira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>
                          <a:effectLst/>
                        </a:rPr>
                        <a:t> R$           599,90 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2 anos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u="none" strike="noStrike" dirty="0">
                          <a:effectLst/>
                        </a:rPr>
                        <a:t> R$                      25,00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298065"/>
                  </a:ext>
                </a:extLst>
              </a:tr>
              <a:tr h="299976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Total Mensal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 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 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u="none" strike="noStrike" dirty="0">
                          <a:effectLst/>
                        </a:rPr>
                        <a:t> R$                  205,70 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70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394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AABE9B6-5A54-3B52-467C-52BF7759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962" y="2519152"/>
            <a:ext cx="9064415" cy="31575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8AF0A71-1D7A-53A9-C566-B35F737040E2}"/>
              </a:ext>
            </a:extLst>
          </p:cNvPr>
          <p:cNvSpPr txBox="1"/>
          <p:nvPr/>
        </p:nvSpPr>
        <p:spPr>
          <a:xfrm>
            <a:off x="627684" y="1881376"/>
            <a:ext cx="647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Preço, clientes por mês e faturamento por modalidade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1CA6CDE8-420C-BAC5-D93F-5DC81C3E581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53E2F7D3-1569-85B7-BE6B-B913AF3A21B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3C6604D3-5DA4-A0C6-0118-92281330DD91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6A793993-3EA2-2587-E25D-B4B2535FE47B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0CD81B80-E485-CD0A-E703-FB39B3AAD9F6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1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66922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5A380F-9033-CE6E-5806-19A48393FC83}"/>
              </a:ext>
            </a:extLst>
          </p:cNvPr>
          <p:cNvSpPr txBox="1"/>
          <p:nvPr/>
        </p:nvSpPr>
        <p:spPr>
          <a:xfrm>
            <a:off x="3042920" y="2600705"/>
            <a:ext cx="5295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Estruturação do Custo-Padrão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DED059B-560C-84C1-E9DD-07CA9817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469" y="3327906"/>
            <a:ext cx="6849402" cy="1447294"/>
          </a:xfrm>
          <a:prstGeom prst="rect">
            <a:avLst/>
          </a:prstGeom>
        </p:spPr>
      </p:pic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E85A7714-0036-6D3A-E004-A2AC90CD37B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FA8D9B63-E324-862E-ECF2-F6F5CF29E9F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6AF4FEE-E736-2E0F-CBE6-5B9F5B0D92D8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1B2F2319-52A0-F41B-3436-8E82516C1028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DBE2B174-9EC8-A535-8DD7-4075AEEAC791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98544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3A046B1D-3AEC-4501-E215-F3BAA0E369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173" y="3028598"/>
            <a:ext cx="1780236" cy="1780236"/>
          </a:xfrm>
          <a:prstGeom prst="rect">
            <a:avLst/>
          </a:prstGeom>
        </p:spPr>
      </p:pic>
      <p:sp>
        <p:nvSpPr>
          <p:cNvPr id="20" name="object 8">
            <a:extLst>
              <a:ext uri="{FF2B5EF4-FFF2-40B4-BE49-F238E27FC236}">
                <a16:creationId xmlns:a16="http://schemas.microsoft.com/office/drawing/2014/main" id="{9BCF2590-D7F4-57A4-30D4-B60DC3F1BD78}"/>
              </a:ext>
            </a:extLst>
          </p:cNvPr>
          <p:cNvSpPr txBox="1"/>
          <p:nvPr/>
        </p:nvSpPr>
        <p:spPr>
          <a:xfrm>
            <a:off x="1730145" y="2477328"/>
            <a:ext cx="2243455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67055">
              <a:lnSpc>
                <a:spcPct val="100000"/>
              </a:lnSpc>
              <a:spcBef>
                <a:spcPts val="615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DBFD7E7-DD36-E0C4-C61C-1785574A6792}"/>
              </a:ext>
            </a:extLst>
          </p:cNvPr>
          <p:cNvSpPr txBox="1"/>
          <p:nvPr/>
        </p:nvSpPr>
        <p:spPr>
          <a:xfrm>
            <a:off x="1684693" y="2477328"/>
            <a:ext cx="224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spc="-5" dirty="0">
                <a:latin typeface="+mj-lt"/>
                <a:cs typeface="Calibri"/>
              </a:rPr>
              <a:t>Tamanho dos insumos</a:t>
            </a:r>
            <a:endParaRPr lang="pt-BR" sz="1800" dirty="0">
              <a:latin typeface="+mj-lt"/>
              <a:cs typeface="Calibri"/>
            </a:endParaRPr>
          </a:p>
          <a:p>
            <a:endParaRPr lang="pt-BR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BD5F3F8D-5D73-E801-364E-C187B9CA53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03" y="3061303"/>
            <a:ext cx="1697686" cy="1697686"/>
          </a:xfrm>
          <a:prstGeom prst="rect">
            <a:avLst/>
          </a:prstGeom>
        </p:spPr>
      </p:pic>
      <p:sp>
        <p:nvSpPr>
          <p:cNvPr id="25" name="object 8">
            <a:extLst>
              <a:ext uri="{FF2B5EF4-FFF2-40B4-BE49-F238E27FC236}">
                <a16:creationId xmlns:a16="http://schemas.microsoft.com/office/drawing/2014/main" id="{4580229B-F28B-6C73-257D-B773FF34EBC5}"/>
              </a:ext>
            </a:extLst>
          </p:cNvPr>
          <p:cNvSpPr txBox="1"/>
          <p:nvPr/>
        </p:nvSpPr>
        <p:spPr>
          <a:xfrm>
            <a:off x="4768803" y="2477044"/>
            <a:ext cx="2243455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67055">
              <a:lnSpc>
                <a:spcPct val="100000"/>
              </a:lnSpc>
              <a:spcBef>
                <a:spcPts val="615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17A8F60-6D6B-E4B0-C8B1-F57DF8FF9860}"/>
              </a:ext>
            </a:extLst>
          </p:cNvPr>
          <p:cNvSpPr txBox="1"/>
          <p:nvPr/>
        </p:nvSpPr>
        <p:spPr>
          <a:xfrm>
            <a:off x="5026448" y="2497045"/>
            <a:ext cx="224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pc="-5">
                <a:latin typeface="+mj-lt"/>
                <a:cs typeface="Calibri"/>
              </a:defRPr>
            </a:lvl1pPr>
          </a:lstStyle>
          <a:p>
            <a:r>
              <a:rPr lang="pt-BR" dirty="0"/>
              <a:t>Padrão mínimo</a:t>
            </a:r>
          </a:p>
          <a:p>
            <a:endParaRPr lang="pt-BR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3553FE3-9441-6046-08CB-39413F3113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174" y="3082355"/>
            <a:ext cx="1780236" cy="1780236"/>
          </a:xfrm>
          <a:prstGeom prst="rect">
            <a:avLst/>
          </a:prstGeom>
        </p:spPr>
      </p:pic>
      <p:sp>
        <p:nvSpPr>
          <p:cNvPr id="30" name="object 8">
            <a:extLst>
              <a:ext uri="{FF2B5EF4-FFF2-40B4-BE49-F238E27FC236}">
                <a16:creationId xmlns:a16="http://schemas.microsoft.com/office/drawing/2014/main" id="{065EF86A-DD66-7E72-8612-3D3AC912D245}"/>
              </a:ext>
            </a:extLst>
          </p:cNvPr>
          <p:cNvSpPr txBox="1"/>
          <p:nvPr/>
        </p:nvSpPr>
        <p:spPr>
          <a:xfrm>
            <a:off x="7817113" y="2464344"/>
            <a:ext cx="2243455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67055">
              <a:lnSpc>
                <a:spcPct val="100000"/>
              </a:lnSpc>
              <a:spcBef>
                <a:spcPts val="615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18F9276-2938-BCCC-26C4-997874BC2454}"/>
              </a:ext>
            </a:extLst>
          </p:cNvPr>
          <p:cNvSpPr txBox="1"/>
          <p:nvPr/>
        </p:nvSpPr>
        <p:spPr>
          <a:xfrm>
            <a:off x="8334843" y="2464344"/>
            <a:ext cx="224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pc="-5">
                <a:latin typeface="+mj-lt"/>
                <a:cs typeface="Calibri"/>
              </a:defRPr>
            </a:lvl1pPr>
          </a:lstStyle>
          <a:p>
            <a:r>
              <a:rPr lang="pt-BR" dirty="0"/>
              <a:t>Comparação</a:t>
            </a:r>
          </a:p>
          <a:p>
            <a:endParaRPr lang="pt-BR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FEFB3C20-EB66-D1A1-BCA0-406D0FAB54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05733AC1-BB11-2E33-7BE3-6D1C762C19E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4444E3E6-5F78-1CB2-AFAD-A9D5D137AF90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185F1462-F32C-E172-D600-721079B9B966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24624B7F-7793-E103-BEA4-4DF6A3DB4800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3011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3440F49-DA21-0F1D-A48B-3CB1887CB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743200"/>
            <a:ext cx="5715000" cy="283091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E253058-900C-E5C3-83DF-A393601C4F02}"/>
              </a:ext>
            </a:extLst>
          </p:cNvPr>
          <p:cNvSpPr txBox="1"/>
          <p:nvPr/>
        </p:nvSpPr>
        <p:spPr>
          <a:xfrm>
            <a:off x="627684" y="1837588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Cílios</a:t>
            </a:r>
            <a:r>
              <a:rPr lang="pt-BR" sz="2400" dirty="0"/>
              <a:t> - Preço dos insumos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38687FA8-DD4D-E818-3F6A-DBA961B1AD3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69CD7BF2-7F07-E3F1-86FA-E06E46EA10A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47578F99-BE2B-1153-072D-9681AD7128FB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F1EF46E5-E59A-92BF-099E-99FD44478E8D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550AAC20-0C7A-93CC-2C70-E2AB80FE8A3A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3685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8187F7C-5E39-DB5F-D8F2-19CC4451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1" y="2201789"/>
            <a:ext cx="8610600" cy="424938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A9943F-816C-7AA6-54FB-ED0A08CCE1EE}"/>
              </a:ext>
            </a:extLst>
          </p:cNvPr>
          <p:cNvSpPr txBox="1"/>
          <p:nvPr/>
        </p:nvSpPr>
        <p:spPr>
          <a:xfrm>
            <a:off x="627684" y="1749268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Cílios</a:t>
            </a:r>
            <a:r>
              <a:rPr lang="pt-BR" sz="2400" dirty="0"/>
              <a:t> - Custo unitário padrão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07C93C03-42C4-D636-EFA3-0385AD265E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CE9FEDD9-54E3-01F2-BAC4-63BE19EA2A3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D37E8A4A-B963-F0EC-7844-838E2FEAB11B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04749207-B6F6-B431-B4EF-92CD5DC5E47A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348A28E6-E4D7-B006-EDDA-DE95C17042A2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2904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A9943F-816C-7AA6-54FB-ED0A08CCE1EE}"/>
              </a:ext>
            </a:extLst>
          </p:cNvPr>
          <p:cNvSpPr txBox="1"/>
          <p:nvPr/>
        </p:nvSpPr>
        <p:spPr>
          <a:xfrm>
            <a:off x="627684" y="1763609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Cílios</a:t>
            </a:r>
            <a:r>
              <a:rPr lang="pt-BR" sz="2400" dirty="0"/>
              <a:t> - Custo unitário realizado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4E4C935-5C48-1289-B77D-59B2DD503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67823"/>
            <a:ext cx="8686800" cy="4223897"/>
          </a:xfrm>
          <a:prstGeom prst="rect">
            <a:avLst/>
          </a:prstGeom>
        </p:spPr>
      </p:pic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122984D4-25A3-A012-A68F-215459C333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004047D5-2E9F-8397-64A0-5D6D0686A806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29C6BB97-23DB-1D2D-3613-82D6F721CB13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8AFA946-C4D3-5E50-BD7A-3FDEB4BC20E7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65494AC-7D95-5435-DF7B-4B950CE1EBB9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411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A9943F-816C-7AA6-54FB-ED0A08CCE1EE}"/>
              </a:ext>
            </a:extLst>
          </p:cNvPr>
          <p:cNvSpPr txBox="1"/>
          <p:nvPr/>
        </p:nvSpPr>
        <p:spPr>
          <a:xfrm>
            <a:off x="609650" y="1865020"/>
            <a:ext cx="4876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Cílios</a:t>
            </a:r>
            <a:r>
              <a:rPr lang="pt-BR" sz="2400" dirty="0"/>
              <a:t> - Comparativo de preço, custo e a margem de contribuição unitária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A4A93FA-267B-A76B-D977-558127C81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93" y="2931129"/>
            <a:ext cx="10277613" cy="1500478"/>
          </a:xfrm>
          <a:prstGeom prst="rect">
            <a:avLst/>
          </a:prstGeom>
        </p:spPr>
      </p:pic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E39E8410-AED0-8D67-6634-B4A965BEA1A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0A3F6356-602B-5D3A-956D-9B5E474E64B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50FC22AA-EC9F-D081-1386-D3E2DA5BA380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34CF925D-4E61-0698-6120-59673C215FC5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F0C9B14A-19FD-6F08-A4E5-AAAD4079A0A8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1253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A9943F-816C-7AA6-54FB-ED0A08CCE1EE}"/>
              </a:ext>
            </a:extLst>
          </p:cNvPr>
          <p:cNvSpPr txBox="1"/>
          <p:nvPr/>
        </p:nvSpPr>
        <p:spPr>
          <a:xfrm>
            <a:off x="627684" y="1850482"/>
            <a:ext cx="516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Cílios</a:t>
            </a:r>
            <a:r>
              <a:rPr lang="pt-BR" sz="2400" dirty="0"/>
              <a:t> - Comparativo de Custo-Padrão e Custo-Real, quantidade e Perda Total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BF1A01D-0427-ADDA-79B6-0F4D79FC18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359260" y="6603366"/>
            <a:ext cx="230504" cy="309957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endParaRPr lang="pt-BR" dirty="0"/>
          </a:p>
          <a:p>
            <a:pPr marL="38100">
              <a:lnSpc>
                <a:spcPts val="1240"/>
              </a:lnSpc>
            </a:pPr>
            <a:endParaRPr lang="pt-BR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C2048F3D-D980-5E23-B81B-59B5DA93CBC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CA4F7AFE-5F6D-E862-6D75-D86FB97D091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FA5E8298-7A87-6905-FE10-DC106F859B0C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05C1547F-4703-AF09-81F7-C80EABA75720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0E69B853-E7AD-6D44-C421-B47092DC0965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BF5F2E13-8ACA-7D1B-6BF6-7DF5EDB85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481390"/>
              </p:ext>
            </p:extLst>
          </p:nvPr>
        </p:nvGraphicFramePr>
        <p:xfrm>
          <a:off x="1859266" y="2971800"/>
          <a:ext cx="9342133" cy="2152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6534">
                  <a:extLst>
                    <a:ext uri="{9D8B030D-6E8A-4147-A177-3AD203B41FA5}">
                      <a16:colId xmlns:a16="http://schemas.microsoft.com/office/drawing/2014/main" val="12531482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26273412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362436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738889897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2810480401"/>
                    </a:ext>
                  </a:extLst>
                </a:gridCol>
              </a:tblGrid>
              <a:tr h="43053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 err="1">
                          <a:effectLst/>
                        </a:rPr>
                        <a:t>Cilios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Volume 3D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Volume Híbrido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Volume Russo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Mega Volume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376004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Custo Padrão por sessão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 R$         12,46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 R$              13,24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 R$            17,80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 R$            26,36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303110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Custo  Real por sessão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 R$         18,43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 R$              22,18 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 R$            24,67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 R$            34,67 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843383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>
                          <a:effectLst/>
                        </a:rPr>
                        <a:t>Quantidade de Clientes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33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30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13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u="none" strike="noStrike" dirty="0">
                          <a:effectLst/>
                        </a:rPr>
                        <a:t>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545009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Perda Total (R$/mês)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 R$     197,01 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 R$          268,20 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 R$          89,31 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1" u="none" strike="noStrike" dirty="0">
                          <a:effectLst/>
                        </a:rPr>
                        <a:t> R$          66,48 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83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833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9.</a:t>
            </a:r>
            <a:r>
              <a:rPr lang="pt-BR" sz="3200" spc="-5" dirty="0">
                <a:latin typeface="+mj-lt"/>
              </a:rPr>
              <a:t> </a:t>
            </a:r>
            <a:r>
              <a:rPr lang="pt-BR" sz="3200" spc="-15" dirty="0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1A9943F-816C-7AA6-54FB-ED0A08CCE1EE}"/>
              </a:ext>
            </a:extLst>
          </p:cNvPr>
          <p:cNvSpPr txBox="1"/>
          <p:nvPr/>
        </p:nvSpPr>
        <p:spPr>
          <a:xfrm>
            <a:off x="612444" y="1881376"/>
            <a:ext cx="415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Cílios</a:t>
            </a:r>
            <a:r>
              <a:rPr lang="pt-BR" sz="2400" dirty="0"/>
              <a:t> - Insights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9E9FD018-0150-B591-68C8-F7807ADDDCCB}"/>
              </a:ext>
            </a:extLst>
          </p:cNvPr>
          <p:cNvSpPr txBox="1"/>
          <p:nvPr/>
        </p:nvSpPr>
        <p:spPr>
          <a:xfrm>
            <a:off x="1042162" y="2798424"/>
            <a:ext cx="2523997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91820" algn="ctr">
              <a:lnSpc>
                <a:spcPct val="100000"/>
              </a:lnSpc>
              <a:spcBef>
                <a:spcPts val="615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6748D1EB-1937-F990-9EDD-39648FB1EE5D}"/>
              </a:ext>
            </a:extLst>
          </p:cNvPr>
          <p:cNvSpPr txBox="1"/>
          <p:nvPr/>
        </p:nvSpPr>
        <p:spPr>
          <a:xfrm>
            <a:off x="8732520" y="2809024"/>
            <a:ext cx="2246630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289560" algn="ctr">
              <a:lnSpc>
                <a:spcPct val="100000"/>
              </a:lnSpc>
              <a:spcBef>
                <a:spcPts val="615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B93137FC-C308-1D52-3821-651E67780DFD}"/>
              </a:ext>
            </a:extLst>
          </p:cNvPr>
          <p:cNvSpPr txBox="1"/>
          <p:nvPr/>
        </p:nvSpPr>
        <p:spPr>
          <a:xfrm>
            <a:off x="4910328" y="2798422"/>
            <a:ext cx="2243455" cy="355867"/>
          </a:xfrm>
          <a:prstGeom prst="rect">
            <a:avLst/>
          </a:prstGeom>
          <a:solidFill>
            <a:srgbClr val="DAE2F3"/>
          </a:solidFill>
          <a:ln w="6096">
            <a:solidFill>
              <a:srgbClr val="4471C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567055">
              <a:lnSpc>
                <a:spcPct val="100000"/>
              </a:lnSpc>
              <a:spcBef>
                <a:spcPts val="615"/>
              </a:spcBef>
            </a:pPr>
            <a:r>
              <a:rPr lang="pt-BR" spc="-5" dirty="0">
                <a:latin typeface="+mj-lt"/>
                <a:cs typeface="Calibri"/>
              </a:rPr>
              <a:t>Padrão x Real</a:t>
            </a:r>
            <a:endParaRPr sz="1800" dirty="0">
              <a:latin typeface="+mj-lt"/>
              <a:cs typeface="Calibri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55EFBC-8A13-65CE-6143-2EB30E756A4A}"/>
              </a:ext>
            </a:extLst>
          </p:cNvPr>
          <p:cNvSpPr txBox="1"/>
          <p:nvPr/>
        </p:nvSpPr>
        <p:spPr>
          <a:xfrm>
            <a:off x="990573" y="2798424"/>
            <a:ext cx="272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spc="-10" dirty="0">
                <a:latin typeface="+mj-lt"/>
                <a:cs typeface="Calibri"/>
              </a:rPr>
              <a:t>Importância de um padrão</a:t>
            </a:r>
            <a:endParaRPr lang="pt-BR" sz="1800" dirty="0">
              <a:latin typeface="+mj-lt"/>
              <a:cs typeface="Calibri"/>
            </a:endParaRPr>
          </a:p>
          <a:p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D6CA0801-DD05-E357-3D05-B6C9D5D9AF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" y="3799313"/>
            <a:ext cx="1527105" cy="152710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E66971E-7D68-FE42-7420-F55E334E4C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60" y="3849081"/>
            <a:ext cx="1527105" cy="152710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EB9B9AB7-85EA-A85A-0D70-AE37C60D21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687731"/>
            <a:ext cx="1527105" cy="152710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E7F478C0-8CF9-4F30-4220-B116264497B0}"/>
              </a:ext>
            </a:extLst>
          </p:cNvPr>
          <p:cNvSpPr txBox="1"/>
          <p:nvPr/>
        </p:nvSpPr>
        <p:spPr>
          <a:xfrm>
            <a:off x="9409106" y="2841725"/>
            <a:ext cx="252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spc="-10" dirty="0">
                <a:latin typeface="+mj-lt"/>
                <a:cs typeface="Calibri"/>
              </a:rPr>
              <a:t>Perdas</a:t>
            </a:r>
            <a:endParaRPr lang="pt-BR" sz="1800" dirty="0">
              <a:latin typeface="+mj-lt"/>
              <a:cs typeface="Calibri"/>
            </a:endParaRPr>
          </a:p>
          <a:p>
            <a:endParaRPr lang="pt-BR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1359CB70-80A8-7089-A305-702279B6681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338E3227-3FDD-74CF-7C02-F65103E574D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7" name="object 4">
            <a:extLst>
              <a:ext uri="{FF2B5EF4-FFF2-40B4-BE49-F238E27FC236}">
                <a16:creationId xmlns:a16="http://schemas.microsoft.com/office/drawing/2014/main" id="{DAC7DC18-FE65-56E9-CF1F-665A69DD1DA4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EA80667F-CB13-1576-66E2-6ED8B762DC88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E0C377D5-11C5-2613-A752-289ED5702F87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2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6864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D57C3C-2C4C-9F75-F1E4-959CBC3092AC}"/>
              </a:ext>
            </a:extLst>
          </p:cNvPr>
          <p:cNvSpPr txBox="1"/>
          <p:nvPr/>
        </p:nvSpPr>
        <p:spPr>
          <a:xfrm>
            <a:off x="3953117" y="2528689"/>
            <a:ext cx="5267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Estruturação do TDABC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35ABDB3-5F99-AE6B-B834-967ECCC9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81" y="3076600"/>
            <a:ext cx="9585438" cy="1676934"/>
          </a:xfrm>
          <a:prstGeom prst="rect">
            <a:avLst/>
          </a:prstGeom>
        </p:spPr>
      </p:pic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47CCFB9E-AFF7-ED82-5DA4-26084CC1309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3" name="Espaço Reservado para Data 12">
            <a:extLst>
              <a:ext uri="{FF2B5EF4-FFF2-40B4-BE49-F238E27FC236}">
                <a16:creationId xmlns:a16="http://schemas.microsoft.com/office/drawing/2014/main" id="{08281926-81E4-DD76-8288-4570CF270A7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8" name="object 4">
            <a:extLst>
              <a:ext uri="{FF2B5EF4-FFF2-40B4-BE49-F238E27FC236}">
                <a16:creationId xmlns:a16="http://schemas.microsoft.com/office/drawing/2014/main" id="{25209DA9-AA30-864F-BA5A-91386167662F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E23B9620-D0A7-154E-A475-873098CD86A3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2F52BFC1-E21D-EC70-708A-C5B26FCE6F30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3764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261BAAA-5523-F941-AED2-C0317C85A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68" y="2242565"/>
            <a:ext cx="3000732" cy="2744572"/>
          </a:xfrm>
          <a:prstGeom prst="rect">
            <a:avLst/>
          </a:prstGeom>
        </p:spPr>
      </p:pic>
      <p:sp>
        <p:nvSpPr>
          <p:cNvPr id="12" name="Chave Esquerda 11">
            <a:extLst>
              <a:ext uri="{FF2B5EF4-FFF2-40B4-BE49-F238E27FC236}">
                <a16:creationId xmlns:a16="http://schemas.microsoft.com/office/drawing/2014/main" id="{59BB2B69-FCC1-212D-EFB2-43F9B28626B6}"/>
              </a:ext>
            </a:extLst>
          </p:cNvPr>
          <p:cNvSpPr/>
          <p:nvPr/>
        </p:nvSpPr>
        <p:spPr>
          <a:xfrm>
            <a:off x="3962400" y="1847850"/>
            <a:ext cx="838200" cy="350657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0B301A-2159-9487-8DAA-2DE47BA6A55F}"/>
              </a:ext>
            </a:extLst>
          </p:cNvPr>
          <p:cNvSpPr txBox="1"/>
          <p:nvPr/>
        </p:nvSpPr>
        <p:spPr>
          <a:xfrm>
            <a:off x="4800600" y="2716107"/>
            <a:ext cx="556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Atendimento ao cliente 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Serviço de beleza 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Limpeza e organização 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Gestão administrativa 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Marketing 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C49BAD2-191B-720E-0BC3-1A00DA49C5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359260" y="6603366"/>
            <a:ext cx="230504" cy="178434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27</a:t>
            </a:fld>
            <a:endParaRPr lang="pt-BR" dirty="0"/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9FBF3C2E-3603-AA72-770C-B6339B3F0A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F6B9DF72-EE0F-377B-59F0-B9FA4210040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9" name="object 4">
            <a:extLst>
              <a:ext uri="{FF2B5EF4-FFF2-40B4-BE49-F238E27FC236}">
                <a16:creationId xmlns:a16="http://schemas.microsoft.com/office/drawing/2014/main" id="{09D6CDB1-681B-DE7E-DE13-1A0149BB829A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C8B4259A-B4CB-9C40-E91B-E5B142B31011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7C6B08BD-D189-280C-A69A-B0DB49532873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2488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grpSp>
        <p:nvGrpSpPr>
          <p:cNvPr id="9" name="object 31">
            <a:extLst>
              <a:ext uri="{FF2B5EF4-FFF2-40B4-BE49-F238E27FC236}">
                <a16:creationId xmlns:a16="http://schemas.microsoft.com/office/drawing/2014/main" id="{9F228470-2781-458A-44C7-B7A9AB5CBF34}"/>
              </a:ext>
            </a:extLst>
          </p:cNvPr>
          <p:cNvGrpSpPr/>
          <p:nvPr/>
        </p:nvGrpSpPr>
        <p:grpSpPr>
          <a:xfrm>
            <a:off x="446198" y="3177433"/>
            <a:ext cx="4270942" cy="591805"/>
            <a:chOff x="1441703" y="4682774"/>
            <a:chExt cx="3511551" cy="806674"/>
          </a:xfrm>
        </p:grpSpPr>
        <p:sp>
          <p:nvSpPr>
            <p:cNvPr id="10" name="object 32">
              <a:extLst>
                <a:ext uri="{FF2B5EF4-FFF2-40B4-BE49-F238E27FC236}">
                  <a16:creationId xmlns:a16="http://schemas.microsoft.com/office/drawing/2014/main" id="{45612C0F-6D94-C6F1-0926-F9E0BE6072E2}"/>
                </a:ext>
              </a:extLst>
            </p:cNvPr>
            <p:cNvSpPr/>
            <p:nvPr/>
          </p:nvSpPr>
          <p:spPr>
            <a:xfrm>
              <a:off x="1441703" y="4682774"/>
              <a:ext cx="3511550" cy="685800"/>
            </a:xfrm>
            <a:custGeom>
              <a:avLst/>
              <a:gdLst/>
              <a:ahLst/>
              <a:cxnLst/>
              <a:rect l="l" t="t" r="r" b="b"/>
              <a:pathLst>
                <a:path w="3511550" h="685800">
                  <a:moveTo>
                    <a:pt x="3396996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499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799"/>
                  </a:lnTo>
                  <a:lnTo>
                    <a:pt x="3396996" y="685799"/>
                  </a:lnTo>
                  <a:lnTo>
                    <a:pt x="3441483" y="676816"/>
                  </a:lnTo>
                  <a:lnTo>
                    <a:pt x="3477815" y="652319"/>
                  </a:lnTo>
                  <a:lnTo>
                    <a:pt x="3502312" y="615987"/>
                  </a:lnTo>
                  <a:lnTo>
                    <a:pt x="3511296" y="571499"/>
                  </a:lnTo>
                  <a:lnTo>
                    <a:pt x="3511296" y="114300"/>
                  </a:lnTo>
                  <a:lnTo>
                    <a:pt x="3502312" y="69812"/>
                  </a:lnTo>
                  <a:lnTo>
                    <a:pt x="3477815" y="33480"/>
                  </a:lnTo>
                  <a:lnTo>
                    <a:pt x="3441483" y="8983"/>
                  </a:lnTo>
                  <a:lnTo>
                    <a:pt x="3396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150000"/>
                </a:lnSpc>
              </a:pPr>
              <a:r>
                <a:rPr lang="pt-BR" sz="2400" b="1" dirty="0"/>
                <a:t>Taxa de Custo Unitário</a:t>
              </a:r>
              <a:endParaRPr b="1" dirty="0"/>
            </a:p>
          </p:txBody>
        </p:sp>
        <p:sp>
          <p:nvSpPr>
            <p:cNvPr id="14" name="object 33">
              <a:extLst>
                <a:ext uri="{FF2B5EF4-FFF2-40B4-BE49-F238E27FC236}">
                  <a16:creationId xmlns:a16="http://schemas.microsoft.com/office/drawing/2014/main" id="{F98092D4-EA35-133D-A5ED-480D5F7AF65C}"/>
                </a:ext>
              </a:extLst>
            </p:cNvPr>
            <p:cNvSpPr/>
            <p:nvPr/>
          </p:nvSpPr>
          <p:spPr>
            <a:xfrm>
              <a:off x="1441704" y="4803648"/>
              <a:ext cx="3511550" cy="685800"/>
            </a:xfrm>
            <a:custGeom>
              <a:avLst/>
              <a:gdLst/>
              <a:ahLst/>
              <a:cxnLst/>
              <a:rect l="l" t="t" r="r" b="b"/>
              <a:pathLst>
                <a:path w="3511550" h="6858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3396996" y="0"/>
                  </a:lnTo>
                  <a:lnTo>
                    <a:pt x="3441483" y="8983"/>
                  </a:lnTo>
                  <a:lnTo>
                    <a:pt x="3477815" y="33480"/>
                  </a:lnTo>
                  <a:lnTo>
                    <a:pt x="3502312" y="69812"/>
                  </a:lnTo>
                  <a:lnTo>
                    <a:pt x="3511296" y="114300"/>
                  </a:lnTo>
                  <a:lnTo>
                    <a:pt x="3511296" y="571499"/>
                  </a:lnTo>
                  <a:lnTo>
                    <a:pt x="3502312" y="615987"/>
                  </a:lnTo>
                  <a:lnTo>
                    <a:pt x="3477815" y="652319"/>
                  </a:lnTo>
                  <a:lnTo>
                    <a:pt x="3441483" y="676816"/>
                  </a:lnTo>
                  <a:lnTo>
                    <a:pt x="3396996" y="685799"/>
                  </a:lnTo>
                  <a:lnTo>
                    <a:pt x="114300" y="685799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499"/>
                  </a:lnTo>
                  <a:lnTo>
                    <a:pt x="0" y="11430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68A9BCF5-B055-2A2C-C206-F43656BE3EF2}"/>
              </a:ext>
            </a:extLst>
          </p:cNvPr>
          <p:cNvCxnSpPr>
            <a:cxnSpLocks/>
          </p:cNvCxnSpPr>
          <p:nvPr/>
        </p:nvCxnSpPr>
        <p:spPr>
          <a:xfrm>
            <a:off x="4724400" y="3549396"/>
            <a:ext cx="1337135" cy="9811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026349F3-13DC-D05D-A6C8-F5ACB4AB0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865" y="4196134"/>
            <a:ext cx="5628105" cy="76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F1A38BC-A753-486A-7E8F-58C78A8046B3}"/>
              </a:ext>
            </a:extLst>
          </p:cNvPr>
          <p:cNvSpPr txBox="1"/>
          <p:nvPr/>
        </p:nvSpPr>
        <p:spPr>
          <a:xfrm>
            <a:off x="6248400" y="2362200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TCU Global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9B85508B-E1B0-0A2D-CB10-FE07515651B5}"/>
              </a:ext>
            </a:extLst>
          </p:cNvPr>
          <p:cNvCxnSpPr>
            <a:cxnSpLocks/>
          </p:cNvCxnSpPr>
          <p:nvPr/>
        </p:nvCxnSpPr>
        <p:spPr>
          <a:xfrm flipV="1">
            <a:off x="4724400" y="2622401"/>
            <a:ext cx="1337135" cy="926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C59EE18-0F45-5508-9907-D80C9CE80C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28</a:t>
            </a:fld>
            <a:endParaRPr lang="pt-BR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EA4387C6-5B31-4EFA-B2FC-D3A6CD6F72C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5" name="Espaço Reservado para Data 14">
            <a:extLst>
              <a:ext uri="{FF2B5EF4-FFF2-40B4-BE49-F238E27FC236}">
                <a16:creationId xmlns:a16="http://schemas.microsoft.com/office/drawing/2014/main" id="{5EEF3AE3-31C0-B4FF-7ED1-1A26EA665D2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7" name="object 4">
            <a:extLst>
              <a:ext uri="{FF2B5EF4-FFF2-40B4-BE49-F238E27FC236}">
                <a16:creationId xmlns:a16="http://schemas.microsoft.com/office/drawing/2014/main" id="{927AAC47-D230-2891-3B2E-85146A9669C5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317E9CE-BF6D-B1EA-ECA2-9E5DB3CE3DA6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DD41131E-3C96-20D5-3FC3-54B5C0C57126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02735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12B5130D-BFF4-C214-7924-61F951F9E0E0}"/>
              </a:ext>
            </a:extLst>
          </p:cNvPr>
          <p:cNvSpPr/>
          <p:nvPr/>
        </p:nvSpPr>
        <p:spPr>
          <a:xfrm>
            <a:off x="627684" y="1755887"/>
            <a:ext cx="5901704" cy="512445"/>
          </a:xfrm>
          <a:custGeom>
            <a:avLst/>
            <a:gdLst/>
            <a:ahLst/>
            <a:cxnLst/>
            <a:rect l="l" t="t" r="r" b="b"/>
            <a:pathLst>
              <a:path w="3511550" h="685800">
                <a:moveTo>
                  <a:pt x="3396996" y="0"/>
                </a:moveTo>
                <a:lnTo>
                  <a:pt x="114300" y="0"/>
                </a:lnTo>
                <a:lnTo>
                  <a:pt x="69812" y="8983"/>
                </a:lnTo>
                <a:lnTo>
                  <a:pt x="33480" y="33480"/>
                </a:lnTo>
                <a:lnTo>
                  <a:pt x="8983" y="69812"/>
                </a:lnTo>
                <a:lnTo>
                  <a:pt x="0" y="114300"/>
                </a:lnTo>
                <a:lnTo>
                  <a:pt x="0" y="571499"/>
                </a:lnTo>
                <a:lnTo>
                  <a:pt x="8983" y="615987"/>
                </a:lnTo>
                <a:lnTo>
                  <a:pt x="33480" y="652319"/>
                </a:lnTo>
                <a:lnTo>
                  <a:pt x="69812" y="676816"/>
                </a:lnTo>
                <a:lnTo>
                  <a:pt x="114300" y="685799"/>
                </a:lnTo>
                <a:lnTo>
                  <a:pt x="3396996" y="685799"/>
                </a:lnTo>
                <a:lnTo>
                  <a:pt x="3441483" y="676816"/>
                </a:lnTo>
                <a:lnTo>
                  <a:pt x="3477815" y="652319"/>
                </a:lnTo>
                <a:lnTo>
                  <a:pt x="3502312" y="615987"/>
                </a:lnTo>
                <a:lnTo>
                  <a:pt x="3511296" y="571499"/>
                </a:lnTo>
                <a:lnTo>
                  <a:pt x="3511296" y="114300"/>
                </a:lnTo>
                <a:lnTo>
                  <a:pt x="3502312" y="69812"/>
                </a:lnTo>
                <a:lnTo>
                  <a:pt x="3477815" y="33480"/>
                </a:lnTo>
                <a:lnTo>
                  <a:pt x="3441483" y="8983"/>
                </a:lnTo>
                <a:lnTo>
                  <a:pt x="33969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de execução das atividades - Padrão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37035A93-5A1C-7144-48D6-C13527C29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04893"/>
            <a:ext cx="10391781" cy="3919707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06ADD5F7-010F-9CDB-4909-24BC6941AAA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6CED1035-C9DF-0D55-49E7-ED13075162F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6" name="object 4">
            <a:extLst>
              <a:ext uri="{FF2B5EF4-FFF2-40B4-BE49-F238E27FC236}">
                <a16:creationId xmlns:a16="http://schemas.microsoft.com/office/drawing/2014/main" id="{308EBB74-0D3F-759A-2A19-D19D6ACD3A02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2656B01-1710-8552-5E7D-15BF968F263B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E8FC72BB-24D5-F987-0B26-24E544646D79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59314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dirty="0">
                <a:latin typeface="Calibri"/>
                <a:cs typeface="Calibri"/>
              </a:rPr>
              <a:t>30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12B5130D-BFF4-C214-7924-61F951F9E0E0}"/>
              </a:ext>
            </a:extLst>
          </p:cNvPr>
          <p:cNvSpPr/>
          <p:nvPr/>
        </p:nvSpPr>
        <p:spPr>
          <a:xfrm>
            <a:off x="627684" y="1742945"/>
            <a:ext cx="5901704" cy="438349"/>
          </a:xfrm>
          <a:custGeom>
            <a:avLst/>
            <a:gdLst/>
            <a:ahLst/>
            <a:cxnLst/>
            <a:rect l="l" t="t" r="r" b="b"/>
            <a:pathLst>
              <a:path w="3511550" h="685800">
                <a:moveTo>
                  <a:pt x="3396996" y="0"/>
                </a:moveTo>
                <a:lnTo>
                  <a:pt x="114300" y="0"/>
                </a:lnTo>
                <a:lnTo>
                  <a:pt x="69812" y="8983"/>
                </a:lnTo>
                <a:lnTo>
                  <a:pt x="33480" y="33480"/>
                </a:lnTo>
                <a:lnTo>
                  <a:pt x="8983" y="69812"/>
                </a:lnTo>
                <a:lnTo>
                  <a:pt x="0" y="114300"/>
                </a:lnTo>
                <a:lnTo>
                  <a:pt x="0" y="571499"/>
                </a:lnTo>
                <a:lnTo>
                  <a:pt x="8983" y="615987"/>
                </a:lnTo>
                <a:lnTo>
                  <a:pt x="33480" y="652319"/>
                </a:lnTo>
                <a:lnTo>
                  <a:pt x="69812" y="676816"/>
                </a:lnTo>
                <a:lnTo>
                  <a:pt x="114300" y="685799"/>
                </a:lnTo>
                <a:lnTo>
                  <a:pt x="3396996" y="685799"/>
                </a:lnTo>
                <a:lnTo>
                  <a:pt x="3441483" y="676816"/>
                </a:lnTo>
                <a:lnTo>
                  <a:pt x="3477815" y="652319"/>
                </a:lnTo>
                <a:lnTo>
                  <a:pt x="3502312" y="615987"/>
                </a:lnTo>
                <a:lnTo>
                  <a:pt x="3511296" y="571499"/>
                </a:lnTo>
                <a:lnTo>
                  <a:pt x="3511296" y="114300"/>
                </a:lnTo>
                <a:lnTo>
                  <a:pt x="3502312" y="69812"/>
                </a:lnTo>
                <a:lnTo>
                  <a:pt x="3477815" y="33480"/>
                </a:lnTo>
                <a:lnTo>
                  <a:pt x="3441483" y="8983"/>
                </a:lnTo>
                <a:lnTo>
                  <a:pt x="33969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Equação de Tempo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45D16C1-D501-FEFC-FC04-980C7897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911" y="3422966"/>
            <a:ext cx="8617289" cy="50756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D94C43-B616-F2E2-15B3-7C831A28A8B6}"/>
              </a:ext>
            </a:extLst>
          </p:cNvPr>
          <p:cNvSpPr txBox="1"/>
          <p:nvPr/>
        </p:nvSpPr>
        <p:spPr>
          <a:xfrm>
            <a:off x="1133525" y="299823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Exemplo:</a:t>
            </a:r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38DA774D-D868-D617-7EBA-1513383566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7" name="Espaço Reservado para Data 16">
            <a:extLst>
              <a:ext uri="{FF2B5EF4-FFF2-40B4-BE49-F238E27FC236}">
                <a16:creationId xmlns:a16="http://schemas.microsoft.com/office/drawing/2014/main" id="{F1FDCAFC-E20D-FCBC-91EF-11166C2644D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8" name="object 4">
            <a:extLst>
              <a:ext uri="{FF2B5EF4-FFF2-40B4-BE49-F238E27FC236}">
                <a16:creationId xmlns:a16="http://schemas.microsoft.com/office/drawing/2014/main" id="{C43D75D6-9C7C-5031-6D27-303E7A9285F3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9" name="object 5">
              <a:extLst>
                <a:ext uri="{FF2B5EF4-FFF2-40B4-BE49-F238E27FC236}">
                  <a16:creationId xmlns:a16="http://schemas.microsoft.com/office/drawing/2014/main" id="{B6ECA079-09CF-435A-9216-548300929A03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20" name="object 6">
              <a:extLst>
                <a:ext uri="{FF2B5EF4-FFF2-40B4-BE49-F238E27FC236}">
                  <a16:creationId xmlns:a16="http://schemas.microsoft.com/office/drawing/2014/main" id="{D8D7628C-B685-7655-5FB6-469C02D46B7B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69995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12B5130D-BFF4-C214-7924-61F951F9E0E0}"/>
              </a:ext>
            </a:extLst>
          </p:cNvPr>
          <p:cNvSpPr/>
          <p:nvPr/>
        </p:nvSpPr>
        <p:spPr>
          <a:xfrm>
            <a:off x="627684" y="1842057"/>
            <a:ext cx="5901704" cy="512445"/>
          </a:xfrm>
          <a:custGeom>
            <a:avLst/>
            <a:gdLst/>
            <a:ahLst/>
            <a:cxnLst/>
            <a:rect l="l" t="t" r="r" b="b"/>
            <a:pathLst>
              <a:path w="3511550" h="685800">
                <a:moveTo>
                  <a:pt x="3396996" y="0"/>
                </a:moveTo>
                <a:lnTo>
                  <a:pt x="114300" y="0"/>
                </a:lnTo>
                <a:lnTo>
                  <a:pt x="69812" y="8983"/>
                </a:lnTo>
                <a:lnTo>
                  <a:pt x="33480" y="33480"/>
                </a:lnTo>
                <a:lnTo>
                  <a:pt x="8983" y="69812"/>
                </a:lnTo>
                <a:lnTo>
                  <a:pt x="0" y="114300"/>
                </a:lnTo>
                <a:lnTo>
                  <a:pt x="0" y="571499"/>
                </a:lnTo>
                <a:lnTo>
                  <a:pt x="8983" y="615987"/>
                </a:lnTo>
                <a:lnTo>
                  <a:pt x="33480" y="652319"/>
                </a:lnTo>
                <a:lnTo>
                  <a:pt x="69812" y="676816"/>
                </a:lnTo>
                <a:lnTo>
                  <a:pt x="114300" y="685799"/>
                </a:lnTo>
                <a:lnTo>
                  <a:pt x="3396996" y="685799"/>
                </a:lnTo>
                <a:lnTo>
                  <a:pt x="3441483" y="676816"/>
                </a:lnTo>
                <a:lnTo>
                  <a:pt x="3477815" y="652319"/>
                </a:lnTo>
                <a:lnTo>
                  <a:pt x="3502312" y="615987"/>
                </a:lnTo>
                <a:lnTo>
                  <a:pt x="3511296" y="571499"/>
                </a:lnTo>
                <a:lnTo>
                  <a:pt x="3511296" y="114300"/>
                </a:lnTo>
                <a:lnTo>
                  <a:pt x="3502312" y="69812"/>
                </a:lnTo>
                <a:lnTo>
                  <a:pt x="3477815" y="33480"/>
                </a:lnTo>
                <a:lnTo>
                  <a:pt x="3441483" y="8983"/>
                </a:lnTo>
                <a:lnTo>
                  <a:pt x="33969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 unitário Integral dos serviços via TDABC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971CC07-7F35-23B7-BB84-D70C1FED2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906" y="2569692"/>
            <a:ext cx="6472187" cy="3151846"/>
          </a:xfrm>
          <a:prstGeom prst="rect">
            <a:avLst/>
          </a:prstGeom>
        </p:spPr>
      </p:pic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8FB8773-CE51-4ACB-2F30-499A85FA96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31</a:t>
            </a:fld>
            <a:endParaRPr lang="pt-BR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BE49692-8BB7-9114-A413-BC35304E55E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6" name="Espaço Reservado para Data 15">
            <a:extLst>
              <a:ext uri="{FF2B5EF4-FFF2-40B4-BE49-F238E27FC236}">
                <a16:creationId xmlns:a16="http://schemas.microsoft.com/office/drawing/2014/main" id="{AF22448D-54E9-AD80-AA42-047666E174E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7" name="object 4">
            <a:extLst>
              <a:ext uri="{FF2B5EF4-FFF2-40B4-BE49-F238E27FC236}">
                <a16:creationId xmlns:a16="http://schemas.microsoft.com/office/drawing/2014/main" id="{605520B8-32C8-19B6-7FD1-FB48D593832E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3256ED42-DB03-618C-A566-F39A1E58EA8C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9FA48C92-26EA-6FB2-9D43-FE6E84DC9976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88894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32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32">
            <a:extLst>
              <a:ext uri="{FF2B5EF4-FFF2-40B4-BE49-F238E27FC236}">
                <a16:creationId xmlns:a16="http://schemas.microsoft.com/office/drawing/2014/main" id="{12B5130D-BFF4-C214-7924-61F951F9E0E0}"/>
              </a:ext>
            </a:extLst>
          </p:cNvPr>
          <p:cNvSpPr/>
          <p:nvPr/>
        </p:nvSpPr>
        <p:spPr>
          <a:xfrm>
            <a:off x="627684" y="1881376"/>
            <a:ext cx="5901704" cy="512445"/>
          </a:xfrm>
          <a:custGeom>
            <a:avLst/>
            <a:gdLst/>
            <a:ahLst/>
            <a:cxnLst/>
            <a:rect l="l" t="t" r="r" b="b"/>
            <a:pathLst>
              <a:path w="3511550" h="685800">
                <a:moveTo>
                  <a:pt x="3396996" y="0"/>
                </a:moveTo>
                <a:lnTo>
                  <a:pt x="114300" y="0"/>
                </a:lnTo>
                <a:lnTo>
                  <a:pt x="69812" y="8983"/>
                </a:lnTo>
                <a:lnTo>
                  <a:pt x="33480" y="33480"/>
                </a:lnTo>
                <a:lnTo>
                  <a:pt x="8983" y="69812"/>
                </a:lnTo>
                <a:lnTo>
                  <a:pt x="0" y="114300"/>
                </a:lnTo>
                <a:lnTo>
                  <a:pt x="0" y="571499"/>
                </a:lnTo>
                <a:lnTo>
                  <a:pt x="8983" y="615987"/>
                </a:lnTo>
                <a:lnTo>
                  <a:pt x="33480" y="652319"/>
                </a:lnTo>
                <a:lnTo>
                  <a:pt x="69812" y="676816"/>
                </a:lnTo>
                <a:lnTo>
                  <a:pt x="114300" y="685799"/>
                </a:lnTo>
                <a:lnTo>
                  <a:pt x="3396996" y="685799"/>
                </a:lnTo>
                <a:lnTo>
                  <a:pt x="3441483" y="676816"/>
                </a:lnTo>
                <a:lnTo>
                  <a:pt x="3477815" y="652319"/>
                </a:lnTo>
                <a:lnTo>
                  <a:pt x="3502312" y="615987"/>
                </a:lnTo>
                <a:lnTo>
                  <a:pt x="3511296" y="571499"/>
                </a:lnTo>
                <a:lnTo>
                  <a:pt x="3511296" y="114300"/>
                </a:lnTo>
                <a:lnTo>
                  <a:pt x="3502312" y="69812"/>
                </a:lnTo>
                <a:lnTo>
                  <a:pt x="3477815" y="33480"/>
                </a:lnTo>
                <a:lnTo>
                  <a:pt x="3441483" y="8983"/>
                </a:lnTo>
                <a:lnTo>
                  <a:pt x="33969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pt-BR" sz="2400" dirty="0"/>
              <a:t>Perdas por ociosidade 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93F77EA-E4E5-58AE-E442-CBF0839F4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15" y="2827459"/>
            <a:ext cx="6938169" cy="2171262"/>
          </a:xfrm>
          <a:prstGeom prst="rect">
            <a:avLst/>
          </a:prstGeom>
        </p:spPr>
      </p:pic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687409E4-3885-74D7-8439-32CEB8650C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6" name="Espaço Reservado para Data 15">
            <a:extLst>
              <a:ext uri="{FF2B5EF4-FFF2-40B4-BE49-F238E27FC236}">
                <a16:creationId xmlns:a16="http://schemas.microsoft.com/office/drawing/2014/main" id="{4EF112AB-9DE9-9CFB-3ACD-E038638B9F3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7" name="object 4">
            <a:extLst>
              <a:ext uri="{FF2B5EF4-FFF2-40B4-BE49-F238E27FC236}">
                <a16:creationId xmlns:a16="http://schemas.microsoft.com/office/drawing/2014/main" id="{ADE7A049-52A8-4D57-B7BA-93E6EDB82D88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8" name="object 5">
              <a:extLst>
                <a:ext uri="{FF2B5EF4-FFF2-40B4-BE49-F238E27FC236}">
                  <a16:creationId xmlns:a16="http://schemas.microsoft.com/office/drawing/2014/main" id="{597C4F7B-F268-179B-E1E6-33EF08E1C525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EFBD93FC-46E3-8D2E-40B6-8D92DC03B361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3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2546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D57C3C-2C4C-9F75-F1E4-959CBC3092AC}"/>
              </a:ext>
            </a:extLst>
          </p:cNvPr>
          <p:cNvSpPr txBox="1"/>
          <p:nvPr/>
        </p:nvSpPr>
        <p:spPr>
          <a:xfrm>
            <a:off x="3276600" y="2141273"/>
            <a:ext cx="5295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Análise Final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2CF5735-2994-61C1-87E7-E50FD0C9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341" y="2773906"/>
            <a:ext cx="3336418" cy="1892588"/>
          </a:xfrm>
          <a:prstGeom prst="rect">
            <a:avLst/>
          </a:prstGeom>
        </p:spPr>
      </p:pic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DFA91907-DDDD-9607-81E7-474C9B4FB8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EB609244-CE67-066C-9ECB-E15E2C7E3D4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7824618A-DDC3-E33B-1A30-315A5E2E80A5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B364A2D2-56BC-63FB-016A-B419C2F0DF9F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44FBCB6A-F7AD-833C-485B-BE03D9812F0A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4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920863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498A515-94E0-E6D1-2C0E-F3702137A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50" y="2832104"/>
            <a:ext cx="8066609" cy="223678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4B712-6CCC-F381-D8AC-034448A01D86}"/>
              </a:ext>
            </a:extLst>
          </p:cNvPr>
          <p:cNvSpPr txBox="1"/>
          <p:nvPr/>
        </p:nvSpPr>
        <p:spPr>
          <a:xfrm>
            <a:off x="614984" y="1878824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 Cílios – Insights Globais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B027603C-D9C8-7394-43DE-5F2D303D21C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F0E03805-3994-4F3A-E8F1-6996ABD7A72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944811AE-9312-20BF-B681-BDB95916BF71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4E07939F-384A-A70F-7DDF-08400B72DD5A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D5AFA7CC-E139-257E-5717-5384832CBB0F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4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52750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4B712-6CCC-F381-D8AC-034448A01D86}"/>
              </a:ext>
            </a:extLst>
          </p:cNvPr>
          <p:cNvSpPr txBox="1"/>
          <p:nvPr/>
        </p:nvSpPr>
        <p:spPr>
          <a:xfrm>
            <a:off x="627684" y="1881376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 Sobrancelhas – Insights Globais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BCA4D62-4FA6-7DC9-6EDD-E45EB14C0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642980"/>
            <a:ext cx="5780487" cy="2350660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8A3BE91-B7BB-4D38-19B4-6EC9F72711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35</a:t>
            </a:fld>
            <a:endParaRPr lang="pt-BR" dirty="0"/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FD005BFF-6468-BBCE-6262-17825D8C18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028F54B9-720A-9ACD-8248-F6D39B1AE67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70F1A3D8-D490-F1AC-1493-892912834033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FA4B3768-6ABF-BB50-B6E4-7C3944E3E294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8F82C58D-222E-5913-1375-E34AB5D7F5AC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4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154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36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4B712-6CCC-F381-D8AC-034448A01D86}"/>
              </a:ext>
            </a:extLst>
          </p:cNvPr>
          <p:cNvSpPr txBox="1"/>
          <p:nvPr/>
        </p:nvSpPr>
        <p:spPr>
          <a:xfrm>
            <a:off x="627684" y="1878124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 Unhas – Insights Globais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33F5062-26DE-5D8A-88D1-DC328145D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583347"/>
            <a:ext cx="7045959" cy="2053063"/>
          </a:xfrm>
          <a:prstGeom prst="rect">
            <a:avLst/>
          </a:prstGeom>
        </p:spPr>
      </p:pic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BFC36819-5806-306B-0F1F-15B89152877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573491AB-B3C6-71ED-0A7C-B9F8FD65F15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7D04A783-4E2B-9551-0BF1-4C8152A625BF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0DE74BFD-E5C0-818B-B7AA-CD4493FDA801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DA221B39-E66C-E213-8621-2F8E0621FE1E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4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34592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4B712-6CCC-F381-D8AC-034448A01D86}"/>
              </a:ext>
            </a:extLst>
          </p:cNvPr>
          <p:cNvSpPr txBox="1"/>
          <p:nvPr/>
        </p:nvSpPr>
        <p:spPr>
          <a:xfrm>
            <a:off x="533400" y="1903545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Final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CF12D6B-AC5B-C3F6-B86D-1EF3318B4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26085"/>
            <a:ext cx="11582400" cy="1733550"/>
          </a:xfrm>
          <a:prstGeom prst="rect">
            <a:avLst/>
          </a:prstGeom>
        </p:spPr>
      </p:pic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8E0C267-0971-C998-911B-5E1EB8811E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336860" y="6554290"/>
            <a:ext cx="230504" cy="178434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37</a:t>
            </a:fld>
            <a:endParaRPr lang="pt-BR" dirty="0"/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649C9FCD-5950-1D4C-7D7E-6B846E1B824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AC93ADAD-523F-3771-2B27-EF2B47EAFBF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58152227-99B5-A1F8-2999-D498A7727620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074B9DBB-7203-A3AD-4C48-3BB0C46608E3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10BA4CF2-41F3-59F8-2F68-3874FB8B74E4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4</a:t>
              </a:r>
              <a:endParaRPr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5661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9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sz="3200" spc="-15" dirty="0" err="1">
                <a:latin typeface="+mj-lt"/>
              </a:rPr>
              <a:t>Resultados</a:t>
            </a:r>
            <a:endParaRPr sz="3200"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84660" y="6482588"/>
            <a:ext cx="1784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200" spc="-10" dirty="0">
                <a:solidFill>
                  <a:srgbClr val="888888"/>
                </a:solidFill>
                <a:latin typeface="Calibri"/>
                <a:cs typeface="Calibri"/>
              </a:rPr>
              <a:t>38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84B712-6CCC-F381-D8AC-034448A01D86}"/>
              </a:ext>
            </a:extLst>
          </p:cNvPr>
          <p:cNvSpPr txBox="1"/>
          <p:nvPr/>
        </p:nvSpPr>
        <p:spPr>
          <a:xfrm>
            <a:off x="2770491" y="1122121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Final</a:t>
            </a:r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649C9FCD-5950-1D4C-7D7E-6B846E1B824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AC93ADAD-523F-3771-2B27-EF2B47EAFBF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58152227-99B5-A1F8-2999-D498A7727620}"/>
              </a:ext>
            </a:extLst>
          </p:cNvPr>
          <p:cNvGrpSpPr/>
          <p:nvPr/>
        </p:nvGrpSpPr>
        <p:grpSpPr>
          <a:xfrm>
            <a:off x="633780" y="1122121"/>
            <a:ext cx="1957070" cy="512445"/>
            <a:chOff x="987551" y="4937760"/>
            <a:chExt cx="1957070" cy="661670"/>
          </a:xfrm>
          <a:solidFill>
            <a:srgbClr val="DAE2F3"/>
          </a:solidFill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074B9DBB-7203-A3AD-4C48-3BB0C46608E3}"/>
                </a:ext>
              </a:extLst>
            </p:cNvPr>
            <p:cNvSpPr/>
            <p:nvPr/>
          </p:nvSpPr>
          <p:spPr>
            <a:xfrm>
              <a:off x="987551" y="4955094"/>
              <a:ext cx="1957070" cy="644336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1846579" y="0"/>
                  </a:moveTo>
                  <a:lnTo>
                    <a:pt x="110235" y="0"/>
                  </a:lnTo>
                  <a:lnTo>
                    <a:pt x="67326" y="8669"/>
                  </a:lnTo>
                  <a:lnTo>
                    <a:pt x="32286" y="32305"/>
                  </a:lnTo>
                  <a:lnTo>
                    <a:pt x="8662" y="67347"/>
                  </a:lnTo>
                  <a:lnTo>
                    <a:pt x="0" y="110235"/>
                  </a:lnTo>
                  <a:lnTo>
                    <a:pt x="0" y="551179"/>
                  </a:lnTo>
                  <a:lnTo>
                    <a:pt x="8662" y="594068"/>
                  </a:lnTo>
                  <a:lnTo>
                    <a:pt x="32286" y="629110"/>
                  </a:lnTo>
                  <a:lnTo>
                    <a:pt x="67326" y="652746"/>
                  </a:lnTo>
                  <a:lnTo>
                    <a:pt x="110235" y="661415"/>
                  </a:lnTo>
                  <a:lnTo>
                    <a:pt x="1846579" y="661415"/>
                  </a:lnTo>
                  <a:lnTo>
                    <a:pt x="1889468" y="652746"/>
                  </a:lnTo>
                  <a:lnTo>
                    <a:pt x="1924510" y="629110"/>
                  </a:lnTo>
                  <a:lnTo>
                    <a:pt x="1948146" y="594068"/>
                  </a:lnTo>
                  <a:lnTo>
                    <a:pt x="1956815" y="551179"/>
                  </a:lnTo>
                  <a:lnTo>
                    <a:pt x="1956815" y="110235"/>
                  </a:lnTo>
                  <a:lnTo>
                    <a:pt x="1948146" y="67347"/>
                  </a:lnTo>
                  <a:lnTo>
                    <a:pt x="1924510" y="32305"/>
                  </a:lnTo>
                  <a:lnTo>
                    <a:pt x="1889468" y="8669"/>
                  </a:lnTo>
                  <a:lnTo>
                    <a:pt x="184657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</a:rPr>
                <a:t>Fase 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10BA4CF2-41F3-59F8-2F68-3874FB8B74E4}"/>
                </a:ext>
              </a:extLst>
            </p:cNvPr>
            <p:cNvSpPr/>
            <p:nvPr/>
          </p:nvSpPr>
          <p:spPr>
            <a:xfrm>
              <a:off x="987551" y="4937760"/>
              <a:ext cx="1957070" cy="661670"/>
            </a:xfrm>
            <a:custGeom>
              <a:avLst/>
              <a:gdLst/>
              <a:ahLst/>
              <a:cxnLst/>
              <a:rect l="l" t="t" r="r" b="b"/>
              <a:pathLst>
                <a:path w="1957070" h="661670">
                  <a:moveTo>
                    <a:pt x="0" y="110235"/>
                  </a:moveTo>
                  <a:lnTo>
                    <a:pt x="8662" y="67347"/>
                  </a:lnTo>
                  <a:lnTo>
                    <a:pt x="32286" y="32305"/>
                  </a:lnTo>
                  <a:lnTo>
                    <a:pt x="67326" y="8669"/>
                  </a:lnTo>
                  <a:lnTo>
                    <a:pt x="110235" y="0"/>
                  </a:lnTo>
                  <a:lnTo>
                    <a:pt x="1846579" y="0"/>
                  </a:lnTo>
                  <a:lnTo>
                    <a:pt x="1889468" y="8669"/>
                  </a:lnTo>
                  <a:lnTo>
                    <a:pt x="1924510" y="32305"/>
                  </a:lnTo>
                  <a:lnTo>
                    <a:pt x="1948146" y="67347"/>
                  </a:lnTo>
                  <a:lnTo>
                    <a:pt x="1956815" y="110235"/>
                  </a:lnTo>
                  <a:lnTo>
                    <a:pt x="1956815" y="551179"/>
                  </a:lnTo>
                  <a:lnTo>
                    <a:pt x="1948146" y="594068"/>
                  </a:lnTo>
                  <a:lnTo>
                    <a:pt x="1924510" y="629110"/>
                  </a:lnTo>
                  <a:lnTo>
                    <a:pt x="1889468" y="652746"/>
                  </a:lnTo>
                  <a:lnTo>
                    <a:pt x="1846579" y="661415"/>
                  </a:lnTo>
                  <a:lnTo>
                    <a:pt x="110235" y="661415"/>
                  </a:lnTo>
                  <a:lnTo>
                    <a:pt x="67326" y="652746"/>
                  </a:lnTo>
                  <a:lnTo>
                    <a:pt x="32286" y="629110"/>
                  </a:lnTo>
                  <a:lnTo>
                    <a:pt x="8662" y="594068"/>
                  </a:lnTo>
                  <a:lnTo>
                    <a:pt x="0" y="551179"/>
                  </a:lnTo>
                  <a:lnTo>
                    <a:pt x="0" y="110235"/>
                  </a:lnTo>
                  <a:close/>
                </a:path>
              </a:pathLst>
            </a:custGeom>
            <a:grpFill/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algn="ctr"/>
              <a:r>
                <a:rPr lang="pt-BR" sz="3200" dirty="0"/>
                <a:t>Fase 4</a:t>
              </a:r>
              <a:endParaRPr sz="3200" dirty="0"/>
            </a:p>
          </p:txBody>
        </p:sp>
      </p:grp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Gráfico 3">
                <a:extLst>
                  <a:ext uri="{FF2B5EF4-FFF2-40B4-BE49-F238E27FC236}">
                    <a16:creationId xmlns:a16="http://schemas.microsoft.com/office/drawing/2014/main" id="{88081D76-AED3-A9DE-93AB-B072FCA95FE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35719832"/>
                  </p:ext>
                </p:extLst>
              </p:nvPr>
            </p:nvGraphicFramePr>
            <p:xfrm>
              <a:off x="304801" y="2101294"/>
              <a:ext cx="6019799" cy="414710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Gráfico 3">
                <a:extLst>
                  <a:ext uri="{FF2B5EF4-FFF2-40B4-BE49-F238E27FC236}">
                    <a16:creationId xmlns:a16="http://schemas.microsoft.com/office/drawing/2014/main" id="{88081D76-AED3-A9DE-93AB-B072FCA95F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801" y="2101294"/>
                <a:ext cx="6019799" cy="4147106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5AB6816F-4005-C8D4-3E90-DCB2FF72A9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116035"/>
              </p:ext>
            </p:extLst>
          </p:nvPr>
        </p:nvGraphicFramePr>
        <p:xfrm>
          <a:off x="6705600" y="2101294"/>
          <a:ext cx="5597856" cy="3994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20677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684" y="376174"/>
            <a:ext cx="42856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pt-BR" sz="3200" spc="-15" dirty="0">
                <a:latin typeface="+mj-lt"/>
              </a:rPr>
              <a:t>10</a:t>
            </a:r>
            <a:r>
              <a:rPr sz="3200" spc="-15" dirty="0">
                <a:latin typeface="+mj-lt"/>
              </a:rPr>
              <a:t>.</a:t>
            </a:r>
            <a:r>
              <a:rPr sz="3200" spc="-5" dirty="0">
                <a:latin typeface="+mj-lt"/>
              </a:rPr>
              <a:t> </a:t>
            </a:r>
            <a:r>
              <a:rPr lang="pt-BR" sz="3200" spc="-15" dirty="0">
                <a:latin typeface="+mj-lt"/>
              </a:rPr>
              <a:t>Conclusão</a:t>
            </a:r>
            <a:endParaRPr sz="3200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69AD6F-2B16-5118-9728-4250515E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422" y="1817045"/>
            <a:ext cx="1712702" cy="161195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4D88006-E838-AEC4-FF6A-749867C386A2}"/>
              </a:ext>
            </a:extLst>
          </p:cNvPr>
          <p:cNvSpPr txBox="1"/>
          <p:nvPr/>
        </p:nvSpPr>
        <p:spPr>
          <a:xfrm>
            <a:off x="2216467" y="3429000"/>
            <a:ext cx="1913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Crescimento das Microempresas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04ED9A3-E716-2BBE-093A-4C9723F13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250" y="1779830"/>
            <a:ext cx="1504950" cy="158115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EC9FAD-A488-A65B-74A2-DB267A379AA4}"/>
              </a:ext>
            </a:extLst>
          </p:cNvPr>
          <p:cNvSpPr txBox="1"/>
          <p:nvPr/>
        </p:nvSpPr>
        <p:spPr>
          <a:xfrm>
            <a:off x="5186770" y="3356890"/>
            <a:ext cx="17435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/>
            </a:lvl1pPr>
          </a:lstStyle>
          <a:p>
            <a:r>
              <a:rPr lang="pt-BR" dirty="0"/>
              <a:t>Serviços Vantagens e desvantagens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47475DF-6B03-1C17-DF97-B53AC3C45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174" y="1828800"/>
            <a:ext cx="1438275" cy="139065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882EB3-A937-6298-429E-21FBB7F9875E}"/>
              </a:ext>
            </a:extLst>
          </p:cNvPr>
          <p:cNvSpPr txBox="1"/>
          <p:nvPr/>
        </p:nvSpPr>
        <p:spPr>
          <a:xfrm>
            <a:off x="8139746" y="3429000"/>
            <a:ext cx="15049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000"/>
            </a:lvl1pPr>
          </a:lstStyle>
          <a:p>
            <a:r>
              <a:rPr lang="pt-BR" dirty="0"/>
              <a:t>Possíveis melhorias, precificação, redução de custos</a:t>
            </a:r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36A02334-C937-3935-347C-5E030309B2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359260" y="6520763"/>
            <a:ext cx="230504" cy="156068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r>
              <a:rPr lang="pt-BR" dirty="0"/>
              <a:t>39</a:t>
            </a:r>
          </a:p>
        </p:txBody>
      </p:sp>
      <p:sp>
        <p:nvSpPr>
          <p:cNvPr id="18" name="Espaço Reservado para Rodapé 17">
            <a:extLst>
              <a:ext uri="{FF2B5EF4-FFF2-40B4-BE49-F238E27FC236}">
                <a16:creationId xmlns:a16="http://schemas.microsoft.com/office/drawing/2014/main" id="{7E910C4E-B21E-479E-43E5-9E3E3D58837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19" name="Espaço Reservado para Data 18">
            <a:extLst>
              <a:ext uri="{FF2B5EF4-FFF2-40B4-BE49-F238E27FC236}">
                <a16:creationId xmlns:a16="http://schemas.microsoft.com/office/drawing/2014/main" id="{5B4064C0-1773-672D-8FFB-437890E016D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</p:spTree>
    <p:extLst>
      <p:ext uri="{BB962C8B-B14F-4D97-AF65-F5344CB8AC3E}">
        <p14:creationId xmlns:p14="http://schemas.microsoft.com/office/powerpoint/2010/main" val="3100400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617419"/>
            <a:ext cx="10896599" cy="831637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7780" marR="5080" indent="454025">
              <a:lnSpc>
                <a:spcPts val="3030"/>
              </a:lnSpc>
              <a:spcBef>
                <a:spcPts val="484"/>
              </a:spcBef>
            </a:pP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PROPOSTA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CUSTEIO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MICROEMPRESA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SEGMENTO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ESTÉTICA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2994" y="4215940"/>
            <a:ext cx="5380355" cy="9353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Aluno: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Bruno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Abreu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Corrêa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Orientadora: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Prof.ª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Joana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Siqueira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Souza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11DF8B-EE8F-4B9A-BD95-0E19AEBE6C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pt-BR" smtClean="0"/>
              <a:t>40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D69949-8823-2E65-83DC-A4D821773A0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5"/>
              <a:t>Nome do Aluno: Bruno de Abreu Corrêa</a:t>
            </a:r>
            <a:endParaRPr lang="pt-BR" spc="-1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9A2BA6-05EA-2C1E-6FBB-7A5AD252041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t-BR" spc="-30"/>
              <a:t>Tema do Trabalho: Sistema de Custos</a:t>
            </a:r>
            <a:endParaRPr lang="pt-BR" spc="-5" dirty="0"/>
          </a:p>
        </p:txBody>
      </p:sp>
    </p:spTree>
    <p:extLst>
      <p:ext uri="{BB962C8B-B14F-4D97-AF65-F5344CB8AC3E}">
        <p14:creationId xmlns:p14="http://schemas.microsoft.com/office/powerpoint/2010/main" val="2750053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</TotalTime>
  <Words>1469</Words>
  <Application>Microsoft Office PowerPoint</Application>
  <PresentationFormat>Widescreen</PresentationFormat>
  <Paragraphs>400</Paragraphs>
  <Slides>40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6" baseType="lpstr">
      <vt:lpstr>Arial</vt:lpstr>
      <vt:lpstr>Arial MT</vt:lpstr>
      <vt:lpstr>Calibri</vt:lpstr>
      <vt:lpstr>Times New Roman</vt:lpstr>
      <vt:lpstr>Times New Roman (Títulos)</vt:lpstr>
      <vt:lpstr>Office Theme</vt:lpstr>
      <vt:lpstr>PROPOSTA DE UM SISTEMA DE CUSTEIO PARA UMA  MICROEMPRESA DE SERVIÇO NO SEGMENTO DE ESTÉTICA</vt:lpstr>
      <vt:lpstr>Cronograma da Apresentação</vt:lpstr>
      <vt:lpstr>1. Contextualização</vt:lpstr>
      <vt:lpstr>1. Contextualização</vt:lpstr>
      <vt:lpstr>2. Problema de Pesquisa</vt:lpstr>
      <vt:lpstr>3. Tema e Objetivos</vt:lpstr>
      <vt:lpstr>4. Justificativa</vt:lpstr>
      <vt:lpstr>5. Referencial Teórico</vt:lpstr>
      <vt:lpstr>5. Referencial Teórico</vt:lpstr>
      <vt:lpstr>6. Cenário de Pesquisa</vt:lpstr>
      <vt:lpstr>7. Métodos de Pesquisa</vt:lpstr>
      <vt:lpstr>7. Métodos de Pesquisa</vt:lpstr>
      <vt:lpstr>Apresentação do PowerPoint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9. Resultados</vt:lpstr>
      <vt:lpstr>10. Conclusão</vt:lpstr>
      <vt:lpstr>PROPOSTA DE UM SISTEMA DE CUSTEIO PARA UMA  MICROEMPRESA DE SERVIÇO NO SEGMENTO DE ESTÉTICA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UM SISTEMA DE CUSTEIO PARA UMA  MICROEMPRESA DE SERVIÇO NO SEGMENTO DE ESTÉTICA</dc:title>
  <cp:lastModifiedBy>Bruno de Abreu Correa</cp:lastModifiedBy>
  <cp:revision>19</cp:revision>
  <dcterms:created xsi:type="dcterms:W3CDTF">2023-08-27T16:42:59Z</dcterms:created>
  <dcterms:modified xsi:type="dcterms:W3CDTF">2023-08-31T01:38:56Z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2023-08-27T00:00:00Z</vt:filetime>
  </property>
</Properties>
</file>